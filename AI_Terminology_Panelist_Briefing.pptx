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463040"/>
            <a:ext cx="2926080" cy="38404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63040"/>
            <a:ext cx="2926080" cy="384048"/>
          </a:xfrm>
          <a:prstGeom prst="rect">
            <a:avLst/>
          </a:prstGeom>
          <a:noFill/>
        </p:spPr>
        <p:txBody>
          <a:bodyPr wrap="square" anchor="ctr"/>
          <a:lstStyle/>
          <a:p>
            <a:pPr algn="ctr"/>
            <a:r>
              <a:rPr sz="1100" b="1" i="0">
                <a:solidFill>
                  <a:srgbClr val="1A2857"/>
                </a:solidFill>
                <a:latin typeface="Calibri"/>
              </a:rPr>
              <a:t>PANELIST BRIEFING</a:t>
            </a:r>
          </a:p>
        </p:txBody>
      </p:sp>
      <p:sp>
        <p:nvSpPr>
          <p:cNvPr id="5" name="TextBox 4"/>
          <p:cNvSpPr txBox="1"/>
          <p:nvPr/>
        </p:nvSpPr>
        <p:spPr>
          <a:xfrm>
            <a:off x="685800" y="1920240"/>
            <a:ext cx="10058400" cy="1005840"/>
          </a:xfrm>
          <a:prstGeom prst="rect">
            <a:avLst/>
          </a:prstGeom>
          <a:noFill/>
        </p:spPr>
        <p:txBody>
          <a:bodyPr wrap="square">
            <a:spAutoFit/>
          </a:bodyPr>
          <a:lstStyle/>
          <a:p>
            <a:pPr algn="l"/>
            <a:r>
              <a:rPr sz="5200" b="1" i="0">
                <a:solidFill>
                  <a:srgbClr val="FFFFFF"/>
                </a:solidFill>
                <a:latin typeface="Calibri"/>
              </a:rPr>
              <a:t>AI Terminology</a:t>
            </a:r>
          </a:p>
        </p:txBody>
      </p:sp>
      <p:sp>
        <p:nvSpPr>
          <p:cNvPr id="6" name="TextBox 5"/>
          <p:cNvSpPr txBox="1"/>
          <p:nvPr/>
        </p:nvSpPr>
        <p:spPr>
          <a:xfrm>
            <a:off x="685800" y="2834640"/>
            <a:ext cx="10058400" cy="868680"/>
          </a:xfrm>
          <a:prstGeom prst="rect">
            <a:avLst/>
          </a:prstGeom>
          <a:noFill/>
        </p:spPr>
        <p:txBody>
          <a:bodyPr wrap="square">
            <a:spAutoFit/>
          </a:bodyPr>
          <a:lstStyle/>
          <a:p>
            <a:pPr algn="l"/>
            <a:r>
              <a:rPr sz="4800" b="1" i="0">
                <a:solidFill>
                  <a:srgbClr val="F5C000"/>
                </a:solidFill>
                <a:latin typeface="Calibri"/>
              </a:rPr>
              <a:t>for Public Health</a:t>
            </a:r>
          </a:p>
        </p:txBody>
      </p:sp>
      <p:sp>
        <p:nvSpPr>
          <p:cNvPr id="7" name="Rectangle 6"/>
          <p:cNvSpPr/>
          <p:nvPr/>
        </p:nvSpPr>
        <p:spPr>
          <a:xfrm>
            <a:off x="685800" y="3794760"/>
            <a:ext cx="9601200" cy="36576"/>
          </a:xfrm>
          <a:prstGeom prst="rect">
            <a:avLst/>
          </a:prstGeom>
          <a:solidFill>
            <a:srgbClr val="405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913632"/>
            <a:ext cx="9601200" cy="411480"/>
          </a:xfrm>
          <a:prstGeom prst="rect">
            <a:avLst/>
          </a:prstGeom>
          <a:noFill/>
        </p:spPr>
        <p:txBody>
          <a:bodyPr wrap="square">
            <a:spAutoFit/>
          </a:bodyPr>
          <a:lstStyle/>
          <a:p>
            <a:pPr algn="l"/>
            <a:r>
              <a:rPr sz="1400" b="0" i="0">
                <a:solidFill>
                  <a:srgbClr val="AABBD6"/>
                </a:solidFill>
                <a:latin typeface="Calibri"/>
              </a:rPr>
              <a:t>17 June 2026  |  09:00 EST  |  15:00 CAT  |  Online</a:t>
            </a:r>
          </a:p>
        </p:txBody>
      </p:sp>
      <p:sp>
        <p:nvSpPr>
          <p:cNvPr id="9" name="TextBox 8"/>
          <p:cNvSpPr txBox="1"/>
          <p:nvPr/>
        </p:nvSpPr>
        <p:spPr>
          <a:xfrm>
            <a:off x="685800" y="4434840"/>
            <a:ext cx="7315200" cy="365760"/>
          </a:xfrm>
          <a:prstGeom prst="rect">
            <a:avLst/>
          </a:prstGeom>
          <a:noFill/>
        </p:spPr>
        <p:txBody>
          <a:bodyPr wrap="square">
            <a:spAutoFit/>
          </a:bodyPr>
          <a:lstStyle/>
          <a:p>
            <a:pPr algn="l"/>
            <a:r>
              <a:rPr sz="1300" b="1" i="0">
                <a:solidFill>
                  <a:srgbClr val="FFFFFF"/>
                </a:solidFill>
                <a:latin typeface="Calibri"/>
              </a:rPr>
              <a:t>Led by Daniel Futerman, Project Director CODA, Vital Strategies</a:t>
            </a:r>
          </a:p>
        </p:txBody>
      </p:sp>
      <p:sp>
        <p:nvSpPr>
          <p:cNvPr id="10" name="TextBox 9"/>
          <p:cNvSpPr txBox="1"/>
          <p:nvPr/>
        </p:nvSpPr>
        <p:spPr>
          <a:xfrm>
            <a:off x="685800" y="4846320"/>
            <a:ext cx="5486400" cy="320040"/>
          </a:xfrm>
          <a:prstGeom prst="rect">
            <a:avLst/>
          </a:prstGeom>
          <a:noFill/>
        </p:spPr>
        <p:txBody>
          <a:bodyPr wrap="square">
            <a:spAutoFit/>
          </a:bodyPr>
          <a:lstStyle/>
          <a:p>
            <a:pPr algn="l"/>
            <a:r>
              <a:rPr sz="1200" b="0" i="0">
                <a:solidFill>
                  <a:srgbClr val="AABBD6"/>
                </a:solidFill>
                <a:latin typeface="Calibri"/>
              </a:rPr>
              <a:t>With invited panelists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11430000" cy="731520"/>
          </a:xfrm>
          <a:prstGeom prst="rect">
            <a:avLst/>
          </a:prstGeom>
          <a:noFill/>
        </p:spPr>
        <p:txBody>
          <a:bodyPr wrap="square" anchor="ctr"/>
          <a:lstStyle/>
          <a:p>
            <a:pPr algn="l"/>
            <a:r>
              <a:rPr sz="2000" b="1" i="0">
                <a:solidFill>
                  <a:srgbClr val="FFFFFF"/>
                </a:solidFill>
                <a:latin typeface="Calibri"/>
              </a:rPr>
              <a:t>About This Session</a:t>
            </a:r>
          </a:p>
        </p:txBody>
      </p:sp>
      <p:sp>
        <p:nvSpPr>
          <p:cNvPr id="4" name="Rectangle 3"/>
          <p:cNvSpPr/>
          <p:nvPr/>
        </p:nvSpPr>
        <p:spPr>
          <a:xfrm>
            <a:off x="457200" y="960120"/>
            <a:ext cx="11247120" cy="914400"/>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60120"/>
            <a:ext cx="54864" cy="9144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05840"/>
            <a:ext cx="10881360" cy="822960"/>
          </a:xfrm>
          <a:prstGeom prst="rect">
            <a:avLst/>
          </a:prstGeom>
          <a:noFill/>
        </p:spPr>
        <p:txBody>
          <a:bodyPr wrap="square">
            <a:spAutoFit/>
          </a:bodyPr>
          <a:lstStyle/>
          <a:p>
            <a:pPr algn="l"/>
            <a:r>
              <a:rPr sz="1400" b="0" i="1">
                <a:solidFill>
                  <a:srgbClr val="1A2857"/>
                </a:solidFill>
                <a:latin typeface="Calibri"/>
              </a:rPr>
              <a:t>Does "human in the loop" mean the same thing to a product developer, an M&amp;E specialist, and a community health worker?</a:t>
            </a:r>
          </a:p>
        </p:txBody>
      </p:sp>
      <p:sp>
        <p:nvSpPr>
          <p:cNvPr id="7" name="TextBox 6"/>
          <p:cNvSpPr txBox="1"/>
          <p:nvPr/>
        </p:nvSpPr>
        <p:spPr>
          <a:xfrm>
            <a:off x="457200" y="2011680"/>
            <a:ext cx="3657600" cy="320040"/>
          </a:xfrm>
          <a:prstGeom prst="rect">
            <a:avLst/>
          </a:prstGeom>
          <a:noFill/>
        </p:spPr>
        <p:txBody>
          <a:bodyPr wrap="square">
            <a:spAutoFit/>
          </a:bodyPr>
          <a:lstStyle/>
          <a:p>
            <a:pPr algn="l"/>
            <a:r>
              <a:rPr sz="1300" b="1" i="0">
                <a:solidFill>
                  <a:srgbClr val="1A2857"/>
                </a:solidFill>
                <a:latin typeface="Calibri"/>
              </a:rPr>
              <a:t>Session aims</a:t>
            </a:r>
          </a:p>
        </p:txBody>
      </p:sp>
      <p:sp>
        <p:nvSpPr>
          <p:cNvPr id="8" name="Rectangle 7"/>
          <p:cNvSpPr/>
          <p:nvPr/>
        </p:nvSpPr>
        <p:spPr>
          <a:xfrm>
            <a:off x="457200" y="2423160"/>
            <a:ext cx="54864" cy="7132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441448"/>
            <a:ext cx="10789920" cy="749808"/>
          </a:xfrm>
          <a:prstGeom prst="rect">
            <a:avLst/>
          </a:prstGeom>
          <a:noFill/>
        </p:spPr>
        <p:txBody>
          <a:bodyPr wrap="square">
            <a:spAutoFit/>
          </a:bodyPr>
          <a:lstStyle/>
          <a:p>
            <a:pPr algn="l"/>
            <a:r>
              <a:rPr sz="1400" b="0" i="0">
                <a:solidFill>
                  <a:srgbClr val="0F172A"/>
                </a:solidFill>
                <a:latin typeface="Calibri"/>
              </a:rPr>
              <a:t>Surface how common AI terms — built for general technology contexts — get contested when applied to public health practice, especially in resource-limited settings.</a:t>
            </a:r>
          </a:p>
        </p:txBody>
      </p:sp>
      <p:sp>
        <p:nvSpPr>
          <p:cNvPr id="10" name="Rectangle 9"/>
          <p:cNvSpPr/>
          <p:nvPr/>
        </p:nvSpPr>
        <p:spPr>
          <a:xfrm>
            <a:off x="457200" y="3319272"/>
            <a:ext cx="54864" cy="7132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337560"/>
            <a:ext cx="10789920" cy="749808"/>
          </a:xfrm>
          <a:prstGeom prst="rect">
            <a:avLst/>
          </a:prstGeom>
          <a:noFill/>
        </p:spPr>
        <p:txBody>
          <a:bodyPr wrap="square">
            <a:spAutoFit/>
          </a:bodyPr>
          <a:lstStyle/>
          <a:p>
            <a:pPr algn="l"/>
            <a:r>
              <a:rPr sz="1400" b="0" i="0">
                <a:solidFill>
                  <a:srgbClr val="0F172A"/>
                </a:solidFill>
                <a:latin typeface="Calibri"/>
              </a:rPr>
              <a:t>Stress-test working definitions against real-world public health scenarios: where do they hold, where do they break?</a:t>
            </a:r>
          </a:p>
        </p:txBody>
      </p:sp>
      <p:sp>
        <p:nvSpPr>
          <p:cNvPr id="12" name="Rectangle 11"/>
          <p:cNvSpPr/>
          <p:nvPr/>
        </p:nvSpPr>
        <p:spPr>
          <a:xfrm>
            <a:off x="457200" y="4215383"/>
            <a:ext cx="54864" cy="7132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33672"/>
            <a:ext cx="10789920" cy="749808"/>
          </a:xfrm>
          <a:prstGeom prst="rect">
            <a:avLst/>
          </a:prstGeom>
          <a:noFill/>
        </p:spPr>
        <p:txBody>
          <a:bodyPr wrap="square">
            <a:spAutoFit/>
          </a:bodyPr>
          <a:lstStyle/>
          <a:p>
            <a:pPr algn="l"/>
            <a:r>
              <a:rPr sz="1400" b="0" i="0">
                <a:solidFill>
                  <a:srgbClr val="0F172A"/>
                </a:solidFill>
                <a:latin typeface="Calibri"/>
              </a:rPr>
              <a:t>Move from abstract terminology debates to practical questions: what does this term certify, who is responsible for what it claims, and what decisions does it inform?</a:t>
            </a:r>
          </a:p>
        </p:txBody>
      </p:sp>
      <p:sp>
        <p:nvSpPr>
          <p:cNvPr id="14" name="Rectangle 13"/>
          <p:cNvSpPr/>
          <p:nvPr/>
        </p:nvSpPr>
        <p:spPr>
          <a:xfrm>
            <a:off x="457200" y="5111496"/>
            <a:ext cx="54864" cy="71323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5129783"/>
            <a:ext cx="10789920" cy="749808"/>
          </a:xfrm>
          <a:prstGeom prst="rect">
            <a:avLst/>
          </a:prstGeom>
          <a:noFill/>
        </p:spPr>
        <p:txBody>
          <a:bodyPr wrap="square">
            <a:spAutoFit/>
          </a:bodyPr>
          <a:lstStyle/>
          <a:p>
            <a:pPr algn="l"/>
            <a:r>
              <a:rPr sz="1400" b="0" i="0">
                <a:solidFill>
                  <a:srgbClr val="0F172A"/>
                </a:solidFill>
                <a:latin typeface="Calibri"/>
              </a:rPr>
              <a:t>Create a live, interactive experience where audience votes and panelist reflections build understanding together.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11430000" cy="731520"/>
          </a:xfrm>
          <a:prstGeom prst="rect">
            <a:avLst/>
          </a:prstGeom>
          <a:noFill/>
        </p:spPr>
        <p:txBody>
          <a:bodyPr wrap="square" anchor="ctr"/>
          <a:lstStyle/>
          <a:p>
            <a:pPr algn="l"/>
            <a:r>
              <a:rPr sz="2000" b="1" i="0">
                <a:solidFill>
                  <a:srgbClr val="FFFFFF"/>
                </a:solidFill>
                <a:latin typeface="Calibri"/>
              </a:rPr>
              <a:t>Session Flow</a:t>
            </a:r>
          </a:p>
        </p:txBody>
      </p:sp>
      <p:sp>
        <p:nvSpPr>
          <p:cNvPr id="4" name="Rectangle 3"/>
          <p:cNvSpPr/>
          <p:nvPr/>
        </p:nvSpPr>
        <p:spPr>
          <a:xfrm>
            <a:off x="191109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2336" y="1005840"/>
            <a:ext cx="1508760" cy="338328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097280"/>
            <a:ext cx="411480" cy="411480"/>
          </a:xfrm>
          <a:prstGeom prst="rect">
            <a:avLst/>
          </a:prstGeom>
          <a:noFill/>
        </p:spPr>
        <p:txBody>
          <a:bodyPr wrap="square" anchor="ctr"/>
          <a:lstStyle/>
          <a:p>
            <a:pPr algn="ctr"/>
            <a:r>
              <a:rPr sz="1400" b="1" i="0">
                <a:solidFill>
                  <a:srgbClr val="1A2857"/>
                </a:solidFill>
                <a:latin typeface="Calibri"/>
              </a:rPr>
              <a:t>1</a:t>
            </a:r>
          </a:p>
        </p:txBody>
      </p:sp>
      <p:sp>
        <p:nvSpPr>
          <p:cNvPr id="8" name="TextBox 7"/>
          <p:cNvSpPr txBox="1"/>
          <p:nvPr/>
        </p:nvSpPr>
        <p:spPr>
          <a:xfrm>
            <a:off x="475488" y="1627632"/>
            <a:ext cx="1362456" cy="2651760"/>
          </a:xfrm>
          <a:prstGeom prst="rect">
            <a:avLst/>
          </a:prstGeom>
          <a:noFill/>
        </p:spPr>
        <p:txBody>
          <a:bodyPr wrap="square" anchor="t"/>
          <a:lstStyle/>
          <a:p>
            <a:pPr algn="ctr"/>
            <a:r>
              <a:rPr sz="1200" b="1" i="0">
                <a:solidFill>
                  <a:srgbClr val="FFFFFF"/>
                </a:solidFill>
                <a:latin typeface="Calibri"/>
              </a:rPr>
              <a:t>Welcome</a:t>
            </a:r>
          </a:p>
        </p:txBody>
      </p:sp>
      <p:sp>
        <p:nvSpPr>
          <p:cNvPr id="9" name="Rectangle 8"/>
          <p:cNvSpPr/>
          <p:nvPr/>
        </p:nvSpPr>
        <p:spPr>
          <a:xfrm>
            <a:off x="355701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48256" y="1005840"/>
            <a:ext cx="1508760" cy="3383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9689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6896" y="1097280"/>
            <a:ext cx="411480" cy="411480"/>
          </a:xfrm>
          <a:prstGeom prst="rect">
            <a:avLst/>
          </a:prstGeom>
          <a:noFill/>
        </p:spPr>
        <p:txBody>
          <a:bodyPr wrap="square" anchor="ctr"/>
          <a:lstStyle/>
          <a:p>
            <a:pPr algn="ctr"/>
            <a:r>
              <a:rPr sz="1400" b="1" i="0">
                <a:solidFill>
                  <a:srgbClr val="2563EB"/>
                </a:solidFill>
                <a:latin typeface="Calibri"/>
              </a:rPr>
              <a:t>2</a:t>
            </a:r>
          </a:p>
        </p:txBody>
      </p:sp>
      <p:sp>
        <p:nvSpPr>
          <p:cNvPr id="13" name="TextBox 12"/>
          <p:cNvSpPr txBox="1"/>
          <p:nvPr/>
        </p:nvSpPr>
        <p:spPr>
          <a:xfrm>
            <a:off x="2121408" y="1627632"/>
            <a:ext cx="1362456" cy="2651760"/>
          </a:xfrm>
          <a:prstGeom prst="rect">
            <a:avLst/>
          </a:prstGeom>
          <a:noFill/>
        </p:spPr>
        <p:txBody>
          <a:bodyPr wrap="square" anchor="t"/>
          <a:lstStyle/>
          <a:p>
            <a:pPr algn="ctr"/>
            <a:r>
              <a:rPr sz="1200" b="1" i="0">
                <a:solidFill>
                  <a:srgbClr val="FFFFFF"/>
                </a:solidFill>
                <a:latin typeface="Calibri"/>
              </a:rPr>
              <a:t>Human in the
Loop (fixed)</a:t>
            </a:r>
          </a:p>
        </p:txBody>
      </p:sp>
      <p:sp>
        <p:nvSpPr>
          <p:cNvPr id="14" name="Rectangle 13"/>
          <p:cNvSpPr/>
          <p:nvPr/>
        </p:nvSpPr>
        <p:spPr>
          <a:xfrm>
            <a:off x="520293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94176" y="1005840"/>
            <a:ext cx="1508760" cy="33832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4281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42816" y="1097280"/>
            <a:ext cx="411480" cy="411480"/>
          </a:xfrm>
          <a:prstGeom prst="rect">
            <a:avLst/>
          </a:prstGeom>
          <a:noFill/>
        </p:spPr>
        <p:txBody>
          <a:bodyPr wrap="square" anchor="ctr"/>
          <a:lstStyle/>
          <a:p>
            <a:pPr algn="ctr"/>
            <a:r>
              <a:rPr sz="1400" b="1" i="0">
                <a:solidFill>
                  <a:srgbClr val="059669"/>
                </a:solidFill>
                <a:latin typeface="Calibri"/>
              </a:rPr>
              <a:t>3</a:t>
            </a:r>
          </a:p>
        </p:txBody>
      </p:sp>
      <p:sp>
        <p:nvSpPr>
          <p:cNvPr id="18" name="TextBox 17"/>
          <p:cNvSpPr txBox="1"/>
          <p:nvPr/>
        </p:nvSpPr>
        <p:spPr>
          <a:xfrm>
            <a:off x="3767328" y="1627632"/>
            <a:ext cx="1362456" cy="2651760"/>
          </a:xfrm>
          <a:prstGeom prst="rect">
            <a:avLst/>
          </a:prstGeom>
          <a:noFill/>
        </p:spPr>
        <p:txBody>
          <a:bodyPr wrap="square" anchor="t"/>
          <a:lstStyle/>
          <a:p>
            <a:pPr algn="ctr"/>
            <a:r>
              <a:rPr sz="1200" b="1" i="0">
                <a:solidFill>
                  <a:srgbClr val="FFFFFF"/>
                </a:solidFill>
                <a:latin typeface="Calibri"/>
              </a:rPr>
              <a:t>Audience votes:
which topics next?</a:t>
            </a:r>
          </a:p>
        </p:txBody>
      </p:sp>
      <p:sp>
        <p:nvSpPr>
          <p:cNvPr id="19" name="Rectangle 18"/>
          <p:cNvSpPr/>
          <p:nvPr/>
        </p:nvSpPr>
        <p:spPr>
          <a:xfrm>
            <a:off x="684885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40096" y="1005840"/>
            <a:ext cx="1508760" cy="3383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8873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88736" y="1097280"/>
            <a:ext cx="411480" cy="411480"/>
          </a:xfrm>
          <a:prstGeom prst="rect">
            <a:avLst/>
          </a:prstGeom>
          <a:noFill/>
        </p:spPr>
        <p:txBody>
          <a:bodyPr wrap="square" anchor="ctr"/>
          <a:lstStyle/>
          <a:p>
            <a:pPr algn="ctr"/>
            <a:r>
              <a:rPr sz="1400" b="1" i="0">
                <a:solidFill>
                  <a:srgbClr val="2563EB"/>
                </a:solidFill>
                <a:latin typeface="Calibri"/>
              </a:rPr>
              <a:t>4</a:t>
            </a:r>
          </a:p>
        </p:txBody>
      </p:sp>
      <p:sp>
        <p:nvSpPr>
          <p:cNvPr id="23" name="TextBox 22"/>
          <p:cNvSpPr txBox="1"/>
          <p:nvPr/>
        </p:nvSpPr>
        <p:spPr>
          <a:xfrm>
            <a:off x="5413248" y="1627632"/>
            <a:ext cx="1362456" cy="2651760"/>
          </a:xfrm>
          <a:prstGeom prst="rect">
            <a:avLst/>
          </a:prstGeom>
          <a:noFill/>
        </p:spPr>
        <p:txBody>
          <a:bodyPr wrap="square" anchor="t"/>
          <a:lstStyle/>
          <a:p>
            <a:pPr algn="ctr"/>
            <a:r>
              <a:rPr sz="1200" b="1" i="0">
                <a:solidFill>
                  <a:srgbClr val="FFFFFF"/>
                </a:solidFill>
                <a:latin typeface="Calibri"/>
              </a:rPr>
              <a:t>Term 2
(top-voted)</a:t>
            </a:r>
          </a:p>
        </p:txBody>
      </p:sp>
      <p:sp>
        <p:nvSpPr>
          <p:cNvPr id="24" name="Rectangle 23"/>
          <p:cNvSpPr/>
          <p:nvPr/>
        </p:nvSpPr>
        <p:spPr>
          <a:xfrm>
            <a:off x="849477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86016" y="1005840"/>
            <a:ext cx="1508760" cy="3383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3465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34656" y="1097280"/>
            <a:ext cx="411480" cy="411480"/>
          </a:xfrm>
          <a:prstGeom prst="rect">
            <a:avLst/>
          </a:prstGeom>
          <a:noFill/>
        </p:spPr>
        <p:txBody>
          <a:bodyPr wrap="square" anchor="ctr"/>
          <a:lstStyle/>
          <a:p>
            <a:pPr algn="ctr"/>
            <a:r>
              <a:rPr sz="1400" b="1" i="0">
                <a:solidFill>
                  <a:srgbClr val="2563EB"/>
                </a:solidFill>
                <a:latin typeface="Calibri"/>
              </a:rPr>
              <a:t>5</a:t>
            </a:r>
          </a:p>
        </p:txBody>
      </p:sp>
      <p:sp>
        <p:nvSpPr>
          <p:cNvPr id="28" name="TextBox 27"/>
          <p:cNvSpPr txBox="1"/>
          <p:nvPr/>
        </p:nvSpPr>
        <p:spPr>
          <a:xfrm>
            <a:off x="7059168" y="1627632"/>
            <a:ext cx="1362456" cy="2651760"/>
          </a:xfrm>
          <a:prstGeom prst="rect">
            <a:avLst/>
          </a:prstGeom>
          <a:noFill/>
        </p:spPr>
        <p:txBody>
          <a:bodyPr wrap="square" anchor="t"/>
          <a:lstStyle/>
          <a:p>
            <a:pPr algn="ctr"/>
            <a:r>
              <a:rPr sz="1200" b="1" i="0">
                <a:solidFill>
                  <a:srgbClr val="FFFFFF"/>
                </a:solidFill>
                <a:latin typeface="Calibri"/>
              </a:rPr>
              <a:t>Term 3
(2nd-voted)</a:t>
            </a:r>
          </a:p>
        </p:txBody>
      </p:sp>
      <p:sp>
        <p:nvSpPr>
          <p:cNvPr id="29" name="Rectangle 28"/>
          <p:cNvSpPr/>
          <p:nvPr/>
        </p:nvSpPr>
        <p:spPr>
          <a:xfrm>
            <a:off x="1014069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31936" y="1005840"/>
            <a:ext cx="1508760" cy="33832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8057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0576" y="1097280"/>
            <a:ext cx="411480" cy="411480"/>
          </a:xfrm>
          <a:prstGeom prst="rect">
            <a:avLst/>
          </a:prstGeom>
          <a:noFill/>
        </p:spPr>
        <p:txBody>
          <a:bodyPr wrap="square" anchor="ctr"/>
          <a:lstStyle/>
          <a:p>
            <a:pPr algn="ctr"/>
            <a:r>
              <a:rPr sz="1400" b="1" i="0">
                <a:solidFill>
                  <a:srgbClr val="7C3AED"/>
                </a:solidFill>
                <a:latin typeface="Calibri"/>
              </a:rPr>
              <a:t>6</a:t>
            </a:r>
          </a:p>
        </p:txBody>
      </p:sp>
      <p:sp>
        <p:nvSpPr>
          <p:cNvPr id="33" name="TextBox 32"/>
          <p:cNvSpPr txBox="1"/>
          <p:nvPr/>
        </p:nvSpPr>
        <p:spPr>
          <a:xfrm>
            <a:off x="8705088" y="1627632"/>
            <a:ext cx="1362456" cy="2651760"/>
          </a:xfrm>
          <a:prstGeom prst="rect">
            <a:avLst/>
          </a:prstGeom>
          <a:noFill/>
        </p:spPr>
        <p:txBody>
          <a:bodyPr wrap="square" anchor="t"/>
          <a:lstStyle/>
          <a:p>
            <a:pPr algn="ctr"/>
            <a:r>
              <a:rPr sz="1200" b="1" i="0">
                <a:solidFill>
                  <a:srgbClr val="FFFFFF"/>
                </a:solidFill>
                <a:latin typeface="Calibri"/>
              </a:rPr>
              <a:t>Optional Term 4,
if time allows</a:t>
            </a:r>
          </a:p>
        </p:txBody>
      </p:sp>
      <p:sp>
        <p:nvSpPr>
          <p:cNvPr id="34" name="Rectangle 33"/>
          <p:cNvSpPr/>
          <p:nvPr/>
        </p:nvSpPr>
        <p:spPr>
          <a:xfrm>
            <a:off x="10277855" y="1005840"/>
            <a:ext cx="1508760" cy="33832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826495"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26495" y="1097280"/>
            <a:ext cx="411480" cy="411480"/>
          </a:xfrm>
          <a:prstGeom prst="rect">
            <a:avLst/>
          </a:prstGeom>
          <a:noFill/>
        </p:spPr>
        <p:txBody>
          <a:bodyPr wrap="square" anchor="ctr"/>
          <a:lstStyle/>
          <a:p>
            <a:pPr algn="ctr"/>
            <a:r>
              <a:rPr sz="1400" b="1" i="0">
                <a:solidFill>
                  <a:srgbClr val="D97706"/>
                </a:solidFill>
                <a:latin typeface="Calibri"/>
              </a:rPr>
              <a:t>7</a:t>
            </a:r>
          </a:p>
        </p:txBody>
      </p:sp>
      <p:sp>
        <p:nvSpPr>
          <p:cNvPr id="37" name="TextBox 36"/>
          <p:cNvSpPr txBox="1"/>
          <p:nvPr/>
        </p:nvSpPr>
        <p:spPr>
          <a:xfrm>
            <a:off x="10351007" y="1627632"/>
            <a:ext cx="1362456" cy="2651760"/>
          </a:xfrm>
          <a:prstGeom prst="rect">
            <a:avLst/>
          </a:prstGeom>
          <a:noFill/>
        </p:spPr>
        <p:txBody>
          <a:bodyPr wrap="square" anchor="t"/>
          <a:lstStyle/>
          <a:p>
            <a:pPr algn="ctr"/>
            <a:r>
              <a:rPr sz="1200" b="1" i="0">
                <a:solidFill>
                  <a:srgbClr val="FFFFFF"/>
                </a:solidFill>
                <a:latin typeface="Calibri"/>
              </a:rPr>
              <a:t>Close</a:t>
            </a:r>
          </a:p>
        </p:txBody>
      </p:sp>
      <p:sp>
        <p:nvSpPr>
          <p:cNvPr id="38" name="TextBox 37"/>
          <p:cNvSpPr txBox="1"/>
          <p:nvPr/>
        </p:nvSpPr>
        <p:spPr>
          <a:xfrm>
            <a:off x="731520" y="4663440"/>
            <a:ext cx="10698480" cy="640080"/>
          </a:xfrm>
          <a:prstGeom prst="rect">
            <a:avLst/>
          </a:prstGeom>
          <a:noFill/>
        </p:spPr>
        <p:txBody>
          <a:bodyPr wrap="square">
            <a:spAutoFit/>
          </a:bodyPr>
          <a:lstStyle/>
          <a:p>
            <a:pPr algn="ctr"/>
            <a:r>
              <a:rPr sz="1400" b="0" i="1">
                <a:solidFill>
                  <a:srgbClr val="64748B"/>
                </a:solidFill>
                <a:latin typeface="Calibri"/>
              </a:rPr>
              <a:t>Every term — fixed or audience-chosen — runs the same five-part format:
introduction → definition vote → scenario → lightning vote → panelist discussion &amp; reflections.</a:t>
            </a:r>
          </a:p>
        </p:txBody>
      </p:sp>
      <p:sp>
        <p:nvSpPr>
          <p:cNvPr id="39" name="TextBox 38"/>
          <p:cNvSpPr txBox="1"/>
          <p:nvPr/>
        </p:nvSpPr>
        <p:spPr>
          <a:xfrm>
            <a:off x="731520" y="5349240"/>
            <a:ext cx="10698480" cy="640080"/>
          </a:xfrm>
          <a:prstGeom prst="rect">
            <a:avLst/>
          </a:prstGeom>
          <a:noFill/>
        </p:spPr>
        <p:txBody>
          <a:bodyPr wrap="square">
            <a:spAutoFit/>
          </a:bodyPr>
          <a:lstStyle/>
          <a:p>
            <a:pPr algn="ctr"/>
            <a:r>
              <a:rPr sz="1300" b="0" i="0">
                <a:solidFill>
                  <a:srgbClr val="64748B"/>
                </a:solidFill>
                <a:latin typeface="Calibri"/>
              </a:rPr>
              <a:t>After Human in the Loop, the audience votes on which of the five remaining terms to explore. The two highest-voted run automatically; a third runs only if the facilitator judges there's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11430000" cy="731520"/>
          </a:xfrm>
          <a:prstGeom prst="rect">
            <a:avLst/>
          </a:prstGeom>
          <a:noFill/>
        </p:spPr>
        <p:txBody>
          <a:bodyPr wrap="square" anchor="ctr"/>
          <a:lstStyle/>
          <a:p>
            <a:pPr algn="l"/>
            <a:r>
              <a:rPr sz="2000" b="1" i="0">
                <a:solidFill>
                  <a:srgbClr val="FFFFFF"/>
                </a:solidFill>
                <a:latin typeface="Calibri"/>
              </a:rPr>
              <a:t>Your Role as a Panelist</a:t>
            </a:r>
          </a:p>
        </p:txBody>
      </p:sp>
      <p:sp>
        <p:nvSpPr>
          <p:cNvPr id="4" name="TextBox 3"/>
          <p:cNvSpPr txBox="1"/>
          <p:nvPr/>
        </p:nvSpPr>
        <p:spPr>
          <a:xfrm>
            <a:off x="457200" y="1005840"/>
            <a:ext cx="5303520" cy="365760"/>
          </a:xfrm>
          <a:prstGeom prst="rect">
            <a:avLst/>
          </a:prstGeom>
          <a:noFill/>
        </p:spPr>
        <p:txBody>
          <a:bodyPr wrap="square">
            <a:spAutoFit/>
          </a:bodyPr>
          <a:lstStyle/>
          <a:p>
            <a:pPr algn="l"/>
            <a:r>
              <a:rPr sz="1400" b="1" i="0">
                <a:solidFill>
                  <a:srgbClr val="1A2857"/>
                </a:solidFill>
                <a:latin typeface="Calibri"/>
              </a:rPr>
              <a:t>What you're asked to do</a:t>
            </a:r>
          </a:p>
        </p:txBody>
      </p:sp>
      <p:sp>
        <p:nvSpPr>
          <p:cNvPr id="5" name="Rectangle 4"/>
          <p:cNvSpPr/>
          <p:nvPr/>
        </p:nvSpPr>
        <p:spPr>
          <a:xfrm>
            <a:off x="457200" y="1508760"/>
            <a:ext cx="54864"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27048"/>
            <a:ext cx="5120640" cy="804672"/>
          </a:xfrm>
          <a:prstGeom prst="rect">
            <a:avLst/>
          </a:prstGeom>
          <a:noFill/>
        </p:spPr>
        <p:txBody>
          <a:bodyPr wrap="square">
            <a:spAutoFit/>
          </a:bodyPr>
          <a:lstStyle/>
          <a:p>
            <a:pPr algn="l"/>
            <a:r>
              <a:rPr sz="1400" b="0" i="0">
                <a:solidFill>
                  <a:srgbClr val="0F172A"/>
                </a:solidFill>
                <a:latin typeface="Calibri"/>
              </a:rPr>
              <a:t>After each term's three exercises (definition vote, scenario, lightning vote), you'll be invited to share 2-3 minutes of reflection.</a:t>
            </a:r>
          </a:p>
        </p:txBody>
      </p:sp>
      <p:sp>
        <p:nvSpPr>
          <p:cNvPr id="7" name="Rectangle 6"/>
          <p:cNvSpPr/>
          <p:nvPr/>
        </p:nvSpPr>
        <p:spPr>
          <a:xfrm>
            <a:off x="457200" y="2514600"/>
            <a:ext cx="54864" cy="777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32888"/>
            <a:ext cx="5120640" cy="804672"/>
          </a:xfrm>
          <a:prstGeom prst="rect">
            <a:avLst/>
          </a:prstGeom>
          <a:noFill/>
        </p:spPr>
        <p:txBody>
          <a:bodyPr wrap="square">
            <a:spAutoFit/>
          </a:bodyPr>
          <a:lstStyle/>
          <a:p>
            <a:pPr algn="l"/>
            <a:r>
              <a:rPr sz="1400" b="0" i="0">
                <a:solidFill>
                  <a:srgbClr val="0F172A"/>
                </a:solidFill>
                <a:latin typeface="Calibri"/>
              </a:rPr>
              <a:t>React to how the audience voted. What does the split tell you? What would you add or challenge?</a:t>
            </a:r>
          </a:p>
        </p:txBody>
      </p:sp>
      <p:sp>
        <p:nvSpPr>
          <p:cNvPr id="9" name="Rectangle 8"/>
          <p:cNvSpPr/>
          <p:nvPr/>
        </p:nvSpPr>
        <p:spPr>
          <a:xfrm>
            <a:off x="457200" y="3520440"/>
            <a:ext cx="54864" cy="7772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538728"/>
            <a:ext cx="5120640" cy="804672"/>
          </a:xfrm>
          <a:prstGeom prst="rect">
            <a:avLst/>
          </a:prstGeom>
          <a:noFill/>
        </p:spPr>
        <p:txBody>
          <a:bodyPr wrap="square">
            <a:spAutoFit/>
          </a:bodyPr>
          <a:lstStyle/>
          <a:p>
            <a:pPr algn="l"/>
            <a:r>
              <a:rPr sz="1400" b="0" i="0">
                <a:solidFill>
                  <a:srgbClr val="0F172A"/>
                </a:solidFill>
                <a:latin typeface="Calibri"/>
              </a:rPr>
              <a:t>Bring your own professional context. You're not expected to agree with each other or with the audience.</a:t>
            </a:r>
          </a:p>
        </p:txBody>
      </p:sp>
      <p:sp>
        <p:nvSpPr>
          <p:cNvPr id="11" name="Rectangle 10"/>
          <p:cNvSpPr/>
          <p:nvPr/>
        </p:nvSpPr>
        <p:spPr>
          <a:xfrm>
            <a:off x="457200" y="4526280"/>
            <a:ext cx="54864" cy="777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544568"/>
            <a:ext cx="5120640" cy="804672"/>
          </a:xfrm>
          <a:prstGeom prst="rect">
            <a:avLst/>
          </a:prstGeom>
          <a:noFill/>
        </p:spPr>
        <p:txBody>
          <a:bodyPr wrap="square">
            <a:spAutoFit/>
          </a:bodyPr>
          <a:lstStyle/>
          <a:p>
            <a:pPr algn="l"/>
            <a:r>
              <a:rPr sz="1400" b="0" i="0">
                <a:solidFill>
                  <a:srgbClr val="0F172A"/>
                </a:solidFill>
                <a:latin typeface="Calibri"/>
              </a:rPr>
              <a:t>Keep it grounded: connect your reflections to concrete cases, policy decisions, or implementation realities.</a:t>
            </a:r>
          </a:p>
        </p:txBody>
      </p:sp>
      <p:sp>
        <p:nvSpPr>
          <p:cNvPr id="13" name="Rectangle 12"/>
          <p:cNvSpPr/>
          <p:nvPr/>
        </p:nvSpPr>
        <p:spPr>
          <a:xfrm>
            <a:off x="6400800" y="914400"/>
            <a:ext cx="5303520" cy="53035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914400"/>
            <a:ext cx="54864" cy="530352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024128"/>
            <a:ext cx="4937760" cy="347472"/>
          </a:xfrm>
          <a:prstGeom prst="rect">
            <a:avLst/>
          </a:prstGeom>
          <a:noFill/>
        </p:spPr>
        <p:txBody>
          <a:bodyPr wrap="square">
            <a:spAutoFit/>
          </a:bodyPr>
          <a:lstStyle/>
          <a:p>
            <a:pPr algn="l"/>
            <a:r>
              <a:rPr sz="1300" b="1" i="0">
                <a:solidFill>
                  <a:srgbClr val="1A2857"/>
                </a:solidFill>
                <a:latin typeface="Calibri"/>
              </a:rPr>
              <a:t>Participant engagement</a:t>
            </a:r>
          </a:p>
        </p:txBody>
      </p:sp>
      <p:sp>
        <p:nvSpPr>
          <p:cNvPr id="16" name="TextBox 15"/>
          <p:cNvSpPr txBox="1"/>
          <p:nvPr/>
        </p:nvSpPr>
        <p:spPr>
          <a:xfrm>
            <a:off x="6583680" y="1463040"/>
            <a:ext cx="4846320" cy="365760"/>
          </a:xfrm>
          <a:prstGeom prst="rect">
            <a:avLst/>
          </a:prstGeom>
          <a:noFill/>
        </p:spPr>
        <p:txBody>
          <a:bodyPr wrap="square">
            <a:spAutoFit/>
          </a:bodyPr>
          <a:lstStyle/>
          <a:p>
            <a:pPr algn="l"/>
            <a:r>
              <a:rPr sz="1200" b="0" i="0">
                <a:solidFill>
                  <a:srgbClr val="64748B"/>
                </a:solidFill>
                <a:latin typeface="Calibri"/>
              </a:rPr>
              <a:t>During your discussion segment, participants will:</a:t>
            </a:r>
          </a:p>
        </p:txBody>
      </p:sp>
      <p:sp>
        <p:nvSpPr>
          <p:cNvPr id="17" name="TextBox 16"/>
          <p:cNvSpPr txBox="1"/>
          <p:nvPr/>
        </p:nvSpPr>
        <p:spPr>
          <a:xfrm>
            <a:off x="6583680" y="1965960"/>
            <a:ext cx="457200" cy="502920"/>
          </a:xfrm>
          <a:prstGeom prst="rect">
            <a:avLst/>
          </a:prstGeom>
          <a:noFill/>
        </p:spPr>
        <p:txBody>
          <a:bodyPr wrap="square">
            <a:spAutoFit/>
          </a:bodyPr>
          <a:lstStyle/>
          <a:p>
            <a:pPr algn="ctr"/>
            <a:r>
              <a:rPr sz="1800" b="0" i="0">
                <a:solidFill>
                  <a:srgbClr val="0F172A"/>
                </a:solidFill>
                <a:latin typeface="Calibri"/>
              </a:rPr>
              <a:t>💬</a:t>
            </a:r>
          </a:p>
        </p:txBody>
      </p:sp>
      <p:sp>
        <p:nvSpPr>
          <p:cNvPr id="18" name="TextBox 17"/>
          <p:cNvSpPr txBox="1"/>
          <p:nvPr/>
        </p:nvSpPr>
        <p:spPr>
          <a:xfrm>
            <a:off x="7132320" y="2011680"/>
            <a:ext cx="4206240" cy="457200"/>
          </a:xfrm>
          <a:prstGeom prst="rect">
            <a:avLst/>
          </a:prstGeom>
          <a:noFill/>
        </p:spPr>
        <p:txBody>
          <a:bodyPr wrap="square">
            <a:spAutoFit/>
          </a:bodyPr>
          <a:lstStyle/>
          <a:p>
            <a:pPr algn="l"/>
            <a:r>
              <a:rPr sz="1400" b="0" i="0">
                <a:solidFill>
                  <a:srgbClr val="0F172A"/>
                </a:solidFill>
                <a:latin typeface="Calibri"/>
              </a:rPr>
              <a:t>Type questions and comments in the webinar chat</a:t>
            </a:r>
          </a:p>
        </p:txBody>
      </p:sp>
      <p:sp>
        <p:nvSpPr>
          <p:cNvPr id="19" name="TextBox 18"/>
          <p:cNvSpPr txBox="1"/>
          <p:nvPr/>
        </p:nvSpPr>
        <p:spPr>
          <a:xfrm>
            <a:off x="6583680" y="2834639"/>
            <a:ext cx="457200" cy="502920"/>
          </a:xfrm>
          <a:prstGeom prst="rect">
            <a:avLst/>
          </a:prstGeom>
          <a:noFill/>
        </p:spPr>
        <p:txBody>
          <a:bodyPr wrap="square">
            <a:spAutoFit/>
          </a:bodyPr>
          <a:lstStyle/>
          <a:p>
            <a:pPr algn="ctr"/>
            <a:r>
              <a:rPr sz="1800" b="0" i="0">
                <a:solidFill>
                  <a:srgbClr val="0F172A"/>
                </a:solidFill>
                <a:latin typeface="Calibri"/>
              </a:rPr>
              <a:t>✋</a:t>
            </a:r>
          </a:p>
        </p:txBody>
      </p:sp>
      <p:sp>
        <p:nvSpPr>
          <p:cNvPr id="20" name="TextBox 19"/>
          <p:cNvSpPr txBox="1"/>
          <p:nvPr/>
        </p:nvSpPr>
        <p:spPr>
          <a:xfrm>
            <a:off x="7132320" y="2880360"/>
            <a:ext cx="4206240" cy="457200"/>
          </a:xfrm>
          <a:prstGeom prst="rect">
            <a:avLst/>
          </a:prstGeom>
          <a:noFill/>
        </p:spPr>
        <p:txBody>
          <a:bodyPr wrap="square">
            <a:spAutoFit/>
          </a:bodyPr>
          <a:lstStyle/>
          <a:p>
            <a:pPr algn="l"/>
            <a:r>
              <a:rPr sz="1400" b="0" i="0">
                <a:solidFill>
                  <a:srgbClr val="0F172A"/>
                </a:solidFill>
                <a:latin typeface="Calibri"/>
              </a:rPr>
              <a:t>Raise their hand to speak directly</a:t>
            </a:r>
          </a:p>
        </p:txBody>
      </p:sp>
      <p:sp>
        <p:nvSpPr>
          <p:cNvPr id="21" name="TextBox 20"/>
          <p:cNvSpPr txBox="1"/>
          <p:nvPr/>
        </p:nvSpPr>
        <p:spPr>
          <a:xfrm>
            <a:off x="6583680" y="3703320"/>
            <a:ext cx="457200" cy="502920"/>
          </a:xfrm>
          <a:prstGeom prst="rect">
            <a:avLst/>
          </a:prstGeom>
          <a:noFill/>
        </p:spPr>
        <p:txBody>
          <a:bodyPr wrap="square">
            <a:spAutoFit/>
          </a:bodyPr>
          <a:lstStyle/>
          <a:p>
            <a:pPr algn="ctr"/>
            <a:r>
              <a:rPr sz="1800" b="0" i="0">
                <a:solidFill>
                  <a:srgbClr val="0F172A"/>
                </a:solidFill>
                <a:latin typeface="Calibri"/>
              </a:rPr>
              <a:t>📊</a:t>
            </a:r>
          </a:p>
        </p:txBody>
      </p:sp>
      <p:sp>
        <p:nvSpPr>
          <p:cNvPr id="22" name="TextBox 21"/>
          <p:cNvSpPr txBox="1"/>
          <p:nvPr/>
        </p:nvSpPr>
        <p:spPr>
          <a:xfrm>
            <a:off x="7132320" y="3749039"/>
            <a:ext cx="4206240" cy="457200"/>
          </a:xfrm>
          <a:prstGeom prst="rect">
            <a:avLst/>
          </a:prstGeom>
          <a:noFill/>
        </p:spPr>
        <p:txBody>
          <a:bodyPr wrap="square">
            <a:spAutoFit/>
          </a:bodyPr>
          <a:lstStyle/>
          <a:p>
            <a:pPr algn="l"/>
            <a:r>
              <a:rPr sz="1400" b="0" i="0">
                <a:solidFill>
                  <a:srgbClr val="0F172A"/>
                </a:solidFill>
                <a:latin typeface="Calibri"/>
              </a:rPr>
              <a:t>See live results from the vote on the shared screen</a:t>
            </a:r>
          </a:p>
        </p:txBody>
      </p:sp>
      <p:sp>
        <p:nvSpPr>
          <p:cNvPr id="23" name="Rectangle 22"/>
          <p:cNvSpPr/>
          <p:nvPr/>
        </p:nvSpPr>
        <p:spPr>
          <a:xfrm>
            <a:off x="6492240" y="4846320"/>
            <a:ext cx="5120640" cy="1051560"/>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92240" y="4846320"/>
            <a:ext cx="54864" cy="105156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4892040"/>
            <a:ext cx="4846320" cy="960120"/>
          </a:xfrm>
          <a:prstGeom prst="rect">
            <a:avLst/>
          </a:prstGeom>
          <a:noFill/>
        </p:spPr>
        <p:txBody>
          <a:bodyPr wrap="square">
            <a:spAutoFit/>
          </a:bodyPr>
          <a:lstStyle/>
          <a:p>
            <a:pPr algn="l"/>
            <a:r>
              <a:rPr sz="1300" b="0" i="1">
                <a:solidFill>
                  <a:srgbClr val="1A2857"/>
                </a:solidFill>
                <a:latin typeface="Calibri"/>
              </a:rPr>
              <a:t>You don't need to review the vote results in advance. The live display during Discussion &amp; Reflections gives you all the context you need.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38404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384048"/>
          </a:xfrm>
          <a:prstGeom prst="rect">
            <a:avLst/>
          </a:prstGeom>
          <a:noFill/>
        </p:spPr>
        <p:txBody>
          <a:bodyPr wrap="square" anchor="ctr"/>
          <a:lstStyle/>
          <a:p>
            <a:pPr algn="ctr"/>
            <a:r>
              <a:rPr sz="1000" b="1" i="0">
                <a:solidFill>
                  <a:srgbClr val="1A2857"/>
                </a:solidFill>
                <a:latin typeface="Calibri"/>
              </a:rPr>
              <a:t>TERM 1 — FIXED</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874519"/>
            <a:ext cx="7772400" cy="1280160"/>
          </a:xfrm>
          <a:prstGeom prst="rect">
            <a:avLst/>
          </a:prstGeom>
          <a:noFill/>
        </p:spPr>
        <p:txBody>
          <a:bodyPr wrap="square">
            <a:spAutoFit/>
          </a:bodyPr>
          <a:lstStyle/>
          <a:p>
            <a:pPr algn="l"/>
            <a:r>
              <a:rPr sz="4400" b="1" i="0">
                <a:solidFill>
                  <a:srgbClr val="FFFFFF"/>
                </a:solidFill>
                <a:latin typeface="Calibri"/>
              </a:rPr>
              <a:t>Human in the Loop</a:t>
            </a:r>
          </a:p>
        </p:txBody>
      </p:sp>
      <p:sp>
        <p:nvSpPr>
          <p:cNvPr id="7" name="TextBox 6"/>
          <p:cNvSpPr txBox="1"/>
          <p:nvPr/>
        </p:nvSpPr>
        <p:spPr>
          <a:xfrm>
            <a:off x="685800" y="3246120"/>
            <a:ext cx="7498079" cy="1188720"/>
          </a:xfrm>
          <a:prstGeom prst="rect">
            <a:avLst/>
          </a:prstGeom>
          <a:noFill/>
        </p:spPr>
        <p:txBody>
          <a:bodyPr wrap="square">
            <a:spAutoFit/>
          </a:bodyPr>
          <a:lstStyle/>
          <a:p>
            <a:pPr algn="l"/>
            <a:r>
              <a:rPr sz="1500" b="0" i="1">
                <a:solidFill>
                  <a:srgbClr val="AABBD6"/>
                </a:solidFill>
                <a:latin typeface="Calibri"/>
              </a:rPr>
              <a:t>A system in which a human provides oversight, validation, or correction of an AI system's outputs at defined points, retaining decision authority.</a:t>
            </a:r>
          </a:p>
        </p:txBody>
      </p:sp>
      <p:sp>
        <p:nvSpPr>
          <p:cNvPr id="8" name="TextBox 7"/>
          <p:cNvSpPr txBox="1"/>
          <p:nvPr/>
        </p:nvSpPr>
        <p:spPr>
          <a:xfrm>
            <a:off x="685800" y="4572000"/>
            <a:ext cx="10515600" cy="914400"/>
          </a:xfrm>
          <a:prstGeom prst="rect">
            <a:avLst/>
          </a:prstGeom>
          <a:noFill/>
        </p:spPr>
        <p:txBody>
          <a:bodyPr wrap="square">
            <a:spAutoFit/>
          </a:bodyPr>
          <a:lstStyle/>
          <a:p>
            <a:pPr algn="l"/>
            <a:r>
              <a:rPr sz="1500" b="1" i="1">
                <a:solidFill>
                  <a:srgbClr val="F5C000"/>
                </a:solidFill>
                <a:latin typeface="Calibri"/>
              </a:rPr>
              <a:t>Key question: "Is any human presence enough to call it "human in the loop", or does the human need the expertise to meaningfully override the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HUMAN IN THE LOOP</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 1 — How Do You Define It?</a:t>
            </a:r>
          </a:p>
        </p:txBody>
      </p:sp>
      <p:sp>
        <p:nvSpPr>
          <p:cNvPr id="6" name="Rectangle 5"/>
          <p:cNvSpPr/>
          <p:nvPr/>
        </p:nvSpPr>
        <p:spPr>
          <a:xfrm>
            <a:off x="365760" y="960120"/>
            <a:ext cx="11430000" cy="713232"/>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713232"/>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621792"/>
          </a:xfrm>
          <a:prstGeom prst="rect">
            <a:avLst/>
          </a:prstGeom>
          <a:noFill/>
        </p:spPr>
        <p:txBody>
          <a:bodyPr wrap="square">
            <a:spAutoFit/>
          </a:bodyPr>
          <a:lstStyle/>
          <a:p>
            <a:pPr algn="l"/>
            <a:r>
              <a:rPr sz="1300" b="0" i="1">
                <a:solidFill>
                  <a:srgbClr val="1A2857"/>
                </a:solidFill>
                <a:latin typeface="Calibri"/>
              </a:rPr>
              <a:t>A system in which a human provides oversight, validation, or correction of an AI system's outputs at defined points, retaining decision authority.</a:t>
            </a:r>
          </a:p>
        </p:txBody>
      </p:sp>
      <p:sp>
        <p:nvSpPr>
          <p:cNvPr id="9" name="TextBox 8"/>
          <p:cNvSpPr txBox="1"/>
          <p:nvPr/>
        </p:nvSpPr>
        <p:spPr>
          <a:xfrm>
            <a:off x="365760" y="1773936"/>
            <a:ext cx="11430000" cy="347472"/>
          </a:xfrm>
          <a:prstGeom prst="rect">
            <a:avLst/>
          </a:prstGeom>
          <a:noFill/>
        </p:spPr>
        <p:txBody>
          <a:bodyPr wrap="square">
            <a:spAutoFit/>
          </a:bodyPr>
          <a:lstStyle/>
          <a:p>
            <a:pPr algn="l"/>
            <a:r>
              <a:rPr sz="1300" b="0" i="0">
                <a:solidFill>
                  <a:srgbClr val="64748B"/>
                </a:solidFill>
                <a:latin typeface="Calibri"/>
              </a:rPr>
              <a:t>Four definitions of Human in the Loop. Select the one closest to how YOU understand the term.</a:t>
            </a:r>
          </a:p>
        </p:txBody>
      </p:sp>
      <p:sp>
        <p:nvSpPr>
          <p:cNvPr id="10" name="Rectangle 9"/>
          <p:cNvSpPr/>
          <p:nvPr/>
        </p:nvSpPr>
        <p:spPr>
          <a:xfrm>
            <a:off x="36576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121408"/>
            <a:ext cx="64008" cy="187451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 y="2231136"/>
            <a:ext cx="29260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231136"/>
            <a:ext cx="292608" cy="292608"/>
          </a:xfrm>
          <a:prstGeom prst="rect">
            <a:avLst/>
          </a:prstGeom>
          <a:noFill/>
        </p:spPr>
        <p:txBody>
          <a:bodyPr wrap="square" anchor="ctr"/>
          <a:lstStyle/>
          <a:p>
            <a:pPr algn="ctr"/>
            <a:r>
              <a:rPr sz="1200" b="1" i="0">
                <a:solidFill>
                  <a:srgbClr val="FFFFFF"/>
                </a:solidFill>
                <a:latin typeface="Calibri"/>
              </a:rPr>
              <a:t>A</a:t>
            </a:r>
          </a:p>
        </p:txBody>
      </p:sp>
      <p:sp>
        <p:nvSpPr>
          <p:cNvPr id="14" name="TextBox 13"/>
          <p:cNvSpPr txBox="1"/>
          <p:nvPr/>
        </p:nvSpPr>
        <p:spPr>
          <a:xfrm>
            <a:off x="841248" y="2212848"/>
            <a:ext cx="5102352" cy="1581911"/>
          </a:xfrm>
          <a:prstGeom prst="rect">
            <a:avLst/>
          </a:prstGeom>
          <a:noFill/>
        </p:spPr>
        <p:txBody>
          <a:bodyPr wrap="square">
            <a:spAutoFit/>
          </a:bodyPr>
          <a:lstStyle/>
          <a:p>
            <a:pPr algn="l"/>
            <a:r>
              <a:rPr sz="1200" b="0" i="0">
                <a:solidFill>
                  <a:srgbClr val="0F172A"/>
                </a:solidFill>
                <a:latin typeface="Calibri"/>
              </a:rPr>
              <a:t>A risk-mitigation requirement under which a human must be involved in or accountable for AI-driven decisions, including in settings where a specialist who would otherwise make the decision is absent.</a:t>
            </a:r>
          </a:p>
        </p:txBody>
      </p:sp>
      <p:sp>
        <p:nvSpPr>
          <p:cNvPr id="15" name="TextBox 14"/>
          <p:cNvSpPr txBox="1"/>
          <p:nvPr/>
        </p:nvSpPr>
        <p:spPr>
          <a:xfrm>
            <a:off x="841248" y="3739895"/>
            <a:ext cx="5102352" cy="228600"/>
          </a:xfrm>
          <a:prstGeom prst="rect">
            <a:avLst/>
          </a:prstGeom>
          <a:noFill/>
        </p:spPr>
        <p:txBody>
          <a:bodyPr wrap="square">
            <a:spAutoFit/>
          </a:bodyPr>
          <a:lstStyle/>
          <a:p>
            <a:pPr algn="l"/>
            <a:r>
              <a:rPr sz="1100" b="0" i="1">
                <a:solidFill>
                  <a:srgbClr val="64748B"/>
                </a:solidFill>
                <a:latin typeface="Calibri"/>
              </a:rPr>
              <a:t>Public health implementer lens</a:t>
            </a:r>
          </a:p>
        </p:txBody>
      </p:sp>
      <p:sp>
        <p:nvSpPr>
          <p:cNvPr id="16" name="Rectangle 15"/>
          <p:cNvSpPr/>
          <p:nvPr/>
        </p:nvSpPr>
        <p:spPr>
          <a:xfrm>
            <a:off x="626364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121408"/>
            <a:ext cx="64008" cy="187451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73368" y="2231136"/>
            <a:ext cx="292608"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2231136"/>
            <a:ext cx="292608" cy="292608"/>
          </a:xfrm>
          <a:prstGeom prst="rect">
            <a:avLst/>
          </a:prstGeom>
          <a:noFill/>
        </p:spPr>
        <p:txBody>
          <a:bodyPr wrap="square" anchor="ctr"/>
          <a:lstStyle/>
          <a:p>
            <a:pPr algn="ctr"/>
            <a:r>
              <a:rPr sz="1200" b="1" i="0">
                <a:solidFill>
                  <a:srgbClr val="FFFFFF"/>
                </a:solidFill>
                <a:latin typeface="Calibri"/>
              </a:rPr>
              <a:t>B</a:t>
            </a:r>
          </a:p>
        </p:txBody>
      </p:sp>
      <p:sp>
        <p:nvSpPr>
          <p:cNvPr id="20" name="TextBox 19"/>
          <p:cNvSpPr txBox="1"/>
          <p:nvPr/>
        </p:nvSpPr>
        <p:spPr>
          <a:xfrm>
            <a:off x="6739127" y="2212848"/>
            <a:ext cx="5102352" cy="1581911"/>
          </a:xfrm>
          <a:prstGeom prst="rect">
            <a:avLst/>
          </a:prstGeom>
          <a:noFill/>
        </p:spPr>
        <p:txBody>
          <a:bodyPr wrap="square">
            <a:spAutoFit/>
          </a:bodyPr>
          <a:lstStyle/>
          <a:p>
            <a:pPr algn="l"/>
            <a:r>
              <a:rPr sz="1200" b="0" i="0">
                <a:solidFill>
                  <a:srgbClr val="0F172A"/>
                </a:solidFill>
                <a:latin typeface="Calibri"/>
              </a:rPr>
              <a:t>An AI deployment pattern in which a clinician reviews and either accepts, modifies, or rejects each AI recommendation before it affects patient care.</a:t>
            </a:r>
          </a:p>
        </p:txBody>
      </p:sp>
      <p:sp>
        <p:nvSpPr>
          <p:cNvPr id="21" name="TextBox 20"/>
          <p:cNvSpPr txBox="1"/>
          <p:nvPr/>
        </p:nvSpPr>
        <p:spPr>
          <a:xfrm>
            <a:off x="6739127" y="3739895"/>
            <a:ext cx="5102352" cy="228600"/>
          </a:xfrm>
          <a:prstGeom prst="rect">
            <a:avLst/>
          </a:prstGeom>
          <a:noFill/>
        </p:spPr>
        <p:txBody>
          <a:bodyPr wrap="square">
            <a:spAutoFit/>
          </a:bodyPr>
          <a:lstStyle/>
          <a:p>
            <a:pPr algn="l"/>
            <a:r>
              <a:rPr sz="1100" b="0" i="1">
                <a:solidFill>
                  <a:srgbClr val="64748B"/>
                </a:solidFill>
                <a:latin typeface="Calibri"/>
              </a:rPr>
              <a:t>Clinical user lens</a:t>
            </a:r>
          </a:p>
        </p:txBody>
      </p:sp>
      <p:sp>
        <p:nvSpPr>
          <p:cNvPr id="22" name="Rectangle 21"/>
          <p:cNvSpPr/>
          <p:nvPr/>
        </p:nvSpPr>
        <p:spPr>
          <a:xfrm>
            <a:off x="36576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187952"/>
            <a:ext cx="64008" cy="187451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 y="4297680"/>
            <a:ext cx="292608"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297680"/>
            <a:ext cx="292608" cy="292608"/>
          </a:xfrm>
          <a:prstGeom prst="rect">
            <a:avLst/>
          </a:prstGeom>
          <a:noFill/>
        </p:spPr>
        <p:txBody>
          <a:bodyPr wrap="square" anchor="ctr"/>
          <a:lstStyle/>
          <a:p>
            <a:pPr algn="ctr"/>
            <a:r>
              <a:rPr sz="1200" b="1" i="0">
                <a:solidFill>
                  <a:srgbClr val="FFFFFF"/>
                </a:solidFill>
                <a:latin typeface="Calibri"/>
              </a:rPr>
              <a:t>C</a:t>
            </a:r>
          </a:p>
        </p:txBody>
      </p:sp>
      <p:sp>
        <p:nvSpPr>
          <p:cNvPr id="26" name="TextBox 25"/>
          <p:cNvSpPr txBox="1"/>
          <p:nvPr/>
        </p:nvSpPr>
        <p:spPr>
          <a:xfrm>
            <a:off x="841248" y="4279392"/>
            <a:ext cx="5102352" cy="1581911"/>
          </a:xfrm>
          <a:prstGeom prst="rect">
            <a:avLst/>
          </a:prstGeom>
          <a:noFill/>
        </p:spPr>
        <p:txBody>
          <a:bodyPr wrap="square">
            <a:spAutoFit/>
          </a:bodyPr>
          <a:lstStyle/>
          <a:p>
            <a:pPr algn="l"/>
            <a:r>
              <a:rPr sz="1200" b="0" i="0">
                <a:solidFill>
                  <a:srgbClr val="0F172A"/>
                </a:solidFill>
                <a:latin typeface="Calibri"/>
              </a:rPr>
              <a:t>A workflow design choice in which AI handles routine cases and escalates uncertain or high-risk cases to a human reviewer, optimising for the limited time a human can spend.</a:t>
            </a:r>
          </a:p>
        </p:txBody>
      </p:sp>
      <p:sp>
        <p:nvSpPr>
          <p:cNvPr id="27" name="TextBox 26"/>
          <p:cNvSpPr txBox="1"/>
          <p:nvPr/>
        </p:nvSpPr>
        <p:spPr>
          <a:xfrm>
            <a:off x="841248" y="5806440"/>
            <a:ext cx="5102352" cy="228600"/>
          </a:xfrm>
          <a:prstGeom prst="rect">
            <a:avLst/>
          </a:prstGeom>
          <a:noFill/>
        </p:spPr>
        <p:txBody>
          <a:bodyPr wrap="square">
            <a:spAutoFit/>
          </a:bodyPr>
          <a:lstStyle/>
          <a:p>
            <a:pPr algn="l"/>
            <a:r>
              <a:rPr sz="1100" b="0" i="1">
                <a:solidFill>
                  <a:srgbClr val="64748B"/>
                </a:solidFill>
                <a:latin typeface="Calibri"/>
              </a:rPr>
              <a:t>Developer / implementer lens</a:t>
            </a:r>
          </a:p>
        </p:txBody>
      </p:sp>
      <p:sp>
        <p:nvSpPr>
          <p:cNvPr id="28" name="Rectangle 27"/>
          <p:cNvSpPr/>
          <p:nvPr/>
        </p:nvSpPr>
        <p:spPr>
          <a:xfrm>
            <a:off x="626364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187952"/>
            <a:ext cx="64008" cy="187451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73368" y="4297680"/>
            <a:ext cx="292608"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3368" y="4297680"/>
            <a:ext cx="292608" cy="292608"/>
          </a:xfrm>
          <a:prstGeom prst="rect">
            <a:avLst/>
          </a:prstGeom>
          <a:noFill/>
        </p:spPr>
        <p:txBody>
          <a:bodyPr wrap="square" anchor="ctr"/>
          <a:lstStyle/>
          <a:p>
            <a:pPr algn="ctr"/>
            <a:r>
              <a:rPr sz="1200" b="1" i="0">
                <a:solidFill>
                  <a:srgbClr val="FFFFFF"/>
                </a:solidFill>
                <a:latin typeface="Calibri"/>
              </a:rPr>
              <a:t>D</a:t>
            </a:r>
          </a:p>
        </p:txBody>
      </p:sp>
      <p:sp>
        <p:nvSpPr>
          <p:cNvPr id="32" name="TextBox 31"/>
          <p:cNvSpPr txBox="1"/>
          <p:nvPr/>
        </p:nvSpPr>
        <p:spPr>
          <a:xfrm>
            <a:off x="6739127" y="4279392"/>
            <a:ext cx="5102352" cy="1581911"/>
          </a:xfrm>
          <a:prstGeom prst="rect">
            <a:avLst/>
          </a:prstGeom>
          <a:noFill/>
        </p:spPr>
        <p:txBody>
          <a:bodyPr wrap="square">
            <a:spAutoFit/>
          </a:bodyPr>
          <a:lstStyle/>
          <a:p>
            <a:pPr algn="l"/>
            <a:r>
              <a:rPr sz="1200" b="0" i="0">
                <a:solidFill>
                  <a:srgbClr val="0F172A"/>
                </a:solidFill>
                <a:latin typeface="Calibri"/>
              </a:rPr>
              <a:t>A system in which a person retains decision authority through oversight, validation, or correction of an AI system's outputs at one or more defined points in its operation.</a:t>
            </a:r>
          </a:p>
        </p:txBody>
      </p:sp>
      <p:sp>
        <p:nvSpPr>
          <p:cNvPr id="33" name="TextBox 32"/>
          <p:cNvSpPr txBox="1"/>
          <p:nvPr/>
        </p:nvSpPr>
        <p:spPr>
          <a:xfrm>
            <a:off x="6739127" y="5806440"/>
            <a:ext cx="5102352" cy="228600"/>
          </a:xfrm>
          <a:prstGeom prst="rect">
            <a:avLst/>
          </a:prstGeom>
          <a:noFill/>
        </p:spPr>
        <p:txBody>
          <a:bodyPr wrap="square">
            <a:spAutoFit/>
          </a:bodyPr>
          <a:lstStyle/>
          <a:p>
            <a:pPr algn="l"/>
            <a:r>
              <a:rPr sz="1100" b="0" i="1">
                <a:solidFill>
                  <a:srgbClr val="64748B"/>
                </a:solidFill>
                <a:latin typeface="Calibri"/>
              </a:rPr>
              <a:t>Regulatory framing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HUMAN IN THE LOOP</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Exercises 2 &amp; 3 — Scenario and Lightning Vote</a:t>
            </a:r>
          </a:p>
        </p:txBody>
      </p:sp>
      <p:sp>
        <p:nvSpPr>
          <p:cNvPr id="6" name="Rectangle 5"/>
          <p:cNvSpPr/>
          <p:nvPr/>
        </p:nvSpPr>
        <p:spPr>
          <a:xfrm>
            <a:off x="365760" y="960120"/>
            <a:ext cx="54864" cy="4937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60120"/>
            <a:ext cx="5303520" cy="292608"/>
          </a:xfrm>
          <a:prstGeom prst="rect">
            <a:avLst/>
          </a:prstGeom>
          <a:noFill/>
        </p:spPr>
        <p:txBody>
          <a:bodyPr wrap="square">
            <a:spAutoFit/>
          </a:bodyPr>
          <a:lstStyle/>
          <a:p>
            <a:pPr algn="l"/>
            <a:r>
              <a:rPr sz="1100" b="1" i="0">
                <a:solidFill>
                  <a:srgbClr val="2563EB"/>
                </a:solidFill>
                <a:latin typeface="Calibri"/>
              </a:rPr>
              <a:t>EXERCISE 2 — SCENARIO</a:t>
            </a:r>
          </a:p>
        </p:txBody>
      </p:sp>
      <p:sp>
        <p:nvSpPr>
          <p:cNvPr id="8" name="Rectangle 7"/>
          <p:cNvSpPr/>
          <p:nvPr/>
        </p:nvSpPr>
        <p:spPr>
          <a:xfrm>
            <a:off x="365760" y="1316736"/>
            <a:ext cx="5486400" cy="201168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16736"/>
            <a:ext cx="54864" cy="201168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26464"/>
            <a:ext cx="53035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11" name="TextBox 10"/>
          <p:cNvSpPr txBox="1"/>
          <p:nvPr/>
        </p:nvSpPr>
        <p:spPr>
          <a:xfrm>
            <a:off x="502920" y="1664207"/>
            <a:ext cx="5303520" cy="1572768"/>
          </a:xfrm>
          <a:prstGeom prst="rect">
            <a:avLst/>
          </a:prstGeom>
          <a:noFill/>
        </p:spPr>
        <p:txBody>
          <a:bodyPr wrap="square">
            <a:spAutoFit/>
          </a:bodyPr>
          <a:lstStyle/>
          <a:p>
            <a:pPr algn="l"/>
            <a:r>
              <a:rPr sz="1200" b="0" i="0">
                <a:solidFill>
                  <a:srgbClr val="FFFFFF"/>
                </a:solidFill>
                <a:latin typeface="Calibri"/>
              </a:rPr>
              <a:t>Your organization supports an AI tool that reads chest X-rays for diagnosis of TB. The tool is deployed in a district hospital with no radiologist on site. A trained nurse runs the X-ray, the AI flags the result as "high probability TB" and the patient is started on treatment based on the AI's output and the nurse's clinical assessment.</a:t>
            </a:r>
          </a:p>
        </p:txBody>
      </p:sp>
      <p:sp>
        <p:nvSpPr>
          <p:cNvPr id="12" name="TextBox 11"/>
          <p:cNvSpPr txBox="1"/>
          <p:nvPr/>
        </p:nvSpPr>
        <p:spPr>
          <a:xfrm>
            <a:off x="365760" y="3401568"/>
            <a:ext cx="5486400" cy="384048"/>
          </a:xfrm>
          <a:prstGeom prst="rect">
            <a:avLst/>
          </a:prstGeom>
          <a:noFill/>
        </p:spPr>
        <p:txBody>
          <a:bodyPr wrap="square">
            <a:spAutoFit/>
          </a:bodyPr>
          <a:lstStyle/>
          <a:p>
            <a:pPr algn="l"/>
            <a:r>
              <a:rPr sz="1500" b="1" i="0">
                <a:solidFill>
                  <a:srgbClr val="1A2857"/>
                </a:solidFill>
                <a:latin typeface="Calibri"/>
              </a:rPr>
              <a:t>Is this "Human in the Loop"?</a:t>
            </a:r>
          </a:p>
        </p:txBody>
      </p:sp>
      <p:sp>
        <p:nvSpPr>
          <p:cNvPr id="13" name="Rectangle 12"/>
          <p:cNvSpPr/>
          <p:nvPr/>
        </p:nvSpPr>
        <p:spPr>
          <a:xfrm>
            <a:off x="365760" y="3858768"/>
            <a:ext cx="54864" cy="5669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3858768"/>
            <a:ext cx="256032" cy="566928"/>
          </a:xfrm>
          <a:prstGeom prst="rect">
            <a:avLst/>
          </a:prstGeom>
          <a:noFill/>
        </p:spPr>
        <p:txBody>
          <a:bodyPr wrap="square" anchor="ctr"/>
          <a:lstStyle/>
          <a:p>
            <a:pPr algn="l"/>
            <a:r>
              <a:rPr sz="1300" b="1" i="0">
                <a:solidFill>
                  <a:srgbClr val="2563EB"/>
                </a:solidFill>
                <a:latin typeface="Calibri"/>
              </a:rPr>
              <a:t>A</a:t>
            </a:r>
          </a:p>
        </p:txBody>
      </p:sp>
      <p:sp>
        <p:nvSpPr>
          <p:cNvPr id="15" name="TextBox 14"/>
          <p:cNvSpPr txBox="1"/>
          <p:nvPr/>
        </p:nvSpPr>
        <p:spPr>
          <a:xfrm>
            <a:off x="768096" y="3858768"/>
            <a:ext cx="5029200" cy="566928"/>
          </a:xfrm>
          <a:prstGeom prst="rect">
            <a:avLst/>
          </a:prstGeom>
          <a:noFill/>
        </p:spPr>
        <p:txBody>
          <a:bodyPr wrap="square" anchor="ctr"/>
          <a:lstStyle/>
          <a:p>
            <a:pPr algn="l"/>
            <a:r>
              <a:rPr sz="1300" b="0" i="0">
                <a:solidFill>
                  <a:srgbClr val="0F172A"/>
                </a:solidFill>
                <a:latin typeface="Calibri"/>
              </a:rPr>
              <a:t>Yes. The nurse is the human, and she is in the loop.</a:t>
            </a:r>
          </a:p>
        </p:txBody>
      </p:sp>
      <p:sp>
        <p:nvSpPr>
          <p:cNvPr id="16" name="Rectangle 15"/>
          <p:cNvSpPr/>
          <p:nvPr/>
        </p:nvSpPr>
        <p:spPr>
          <a:xfrm>
            <a:off x="365760" y="4572000"/>
            <a:ext cx="54864"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4572000"/>
            <a:ext cx="256032" cy="566928"/>
          </a:xfrm>
          <a:prstGeom prst="rect">
            <a:avLst/>
          </a:prstGeom>
          <a:noFill/>
        </p:spPr>
        <p:txBody>
          <a:bodyPr wrap="square" anchor="ctr"/>
          <a:lstStyle/>
          <a:p>
            <a:pPr algn="l"/>
            <a:r>
              <a:rPr sz="1300" b="1" i="0">
                <a:solidFill>
                  <a:srgbClr val="7C3AED"/>
                </a:solidFill>
                <a:latin typeface="Calibri"/>
              </a:rPr>
              <a:t>B</a:t>
            </a:r>
          </a:p>
        </p:txBody>
      </p:sp>
      <p:sp>
        <p:nvSpPr>
          <p:cNvPr id="18" name="TextBox 17"/>
          <p:cNvSpPr txBox="1"/>
          <p:nvPr/>
        </p:nvSpPr>
        <p:spPr>
          <a:xfrm>
            <a:off x="768096" y="4572000"/>
            <a:ext cx="5029200" cy="566928"/>
          </a:xfrm>
          <a:prstGeom prst="rect">
            <a:avLst/>
          </a:prstGeom>
          <a:noFill/>
        </p:spPr>
        <p:txBody>
          <a:bodyPr wrap="square" anchor="ctr"/>
          <a:lstStyle/>
          <a:p>
            <a:pPr algn="l"/>
            <a:r>
              <a:rPr sz="1300" b="0" i="0">
                <a:solidFill>
                  <a:srgbClr val="0F172A"/>
                </a:solidFill>
                <a:latin typeface="Calibri"/>
              </a:rPr>
              <a:t>No. The human should be a specialist with the expertise to validate the AI's outputs, which the nurse does not have.</a:t>
            </a:r>
          </a:p>
        </p:txBody>
      </p:sp>
      <p:sp>
        <p:nvSpPr>
          <p:cNvPr id="19" name="Rectangle 18"/>
          <p:cNvSpPr/>
          <p:nvPr/>
        </p:nvSpPr>
        <p:spPr>
          <a:xfrm>
            <a:off x="365760" y="5285231"/>
            <a:ext cx="54864" cy="5669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5285231"/>
            <a:ext cx="256032" cy="566928"/>
          </a:xfrm>
          <a:prstGeom prst="rect">
            <a:avLst/>
          </a:prstGeom>
          <a:noFill/>
        </p:spPr>
        <p:txBody>
          <a:bodyPr wrap="square" anchor="ctr"/>
          <a:lstStyle/>
          <a:p>
            <a:pPr algn="l"/>
            <a:r>
              <a:rPr sz="1300" b="1" i="0">
                <a:solidFill>
                  <a:srgbClr val="059669"/>
                </a:solidFill>
                <a:latin typeface="Calibri"/>
              </a:rPr>
              <a:t>C</a:t>
            </a:r>
          </a:p>
        </p:txBody>
      </p:sp>
      <p:sp>
        <p:nvSpPr>
          <p:cNvPr id="21" name="TextBox 20"/>
          <p:cNvSpPr txBox="1"/>
          <p:nvPr/>
        </p:nvSpPr>
        <p:spPr>
          <a:xfrm>
            <a:off x="768096" y="5285231"/>
            <a:ext cx="5029200" cy="566928"/>
          </a:xfrm>
          <a:prstGeom prst="rect">
            <a:avLst/>
          </a:prstGeom>
          <a:noFill/>
        </p:spPr>
        <p:txBody>
          <a:bodyPr wrap="square" anchor="ctr"/>
          <a:lstStyle/>
          <a:p>
            <a:pPr algn="l"/>
            <a:r>
              <a:rPr sz="1300" b="0" i="0">
                <a:solidFill>
                  <a:srgbClr val="0F172A"/>
                </a:solidFill>
                <a:latin typeface="Calibri"/>
              </a:rPr>
              <a:t>It depends on what the term is being used to certify.</a:t>
            </a:r>
          </a:p>
        </p:txBody>
      </p:sp>
      <p:sp>
        <p:nvSpPr>
          <p:cNvPr id="22" name="Rectangle 21"/>
          <p:cNvSpPr/>
          <p:nvPr/>
        </p:nvSpPr>
        <p:spPr>
          <a:xfrm>
            <a:off x="6126480" y="960120"/>
            <a:ext cx="36576" cy="5394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960120"/>
            <a:ext cx="54864" cy="4937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960120"/>
            <a:ext cx="5303520" cy="292608"/>
          </a:xfrm>
          <a:prstGeom prst="rect">
            <a:avLst/>
          </a:prstGeom>
          <a:noFill/>
        </p:spPr>
        <p:txBody>
          <a:bodyPr wrap="square">
            <a:spAutoFit/>
          </a:bodyPr>
          <a:lstStyle/>
          <a:p>
            <a:pPr algn="l"/>
            <a:r>
              <a:rPr sz="1100" b="1" i="0">
                <a:solidFill>
                  <a:srgbClr val="D97706"/>
                </a:solidFill>
                <a:latin typeface="Calibri"/>
              </a:rPr>
              <a:t>EXERCISE 3 — LIGHTNING VOTE</a:t>
            </a:r>
          </a:p>
        </p:txBody>
      </p:sp>
      <p:sp>
        <p:nvSpPr>
          <p:cNvPr id="25" name="TextBox 24"/>
          <p:cNvSpPr txBox="1"/>
          <p:nvPr/>
        </p:nvSpPr>
        <p:spPr>
          <a:xfrm>
            <a:off x="6263640" y="1316736"/>
            <a:ext cx="5532120" cy="914400"/>
          </a:xfrm>
          <a:prstGeom prst="rect">
            <a:avLst/>
          </a:prstGeom>
          <a:noFill/>
        </p:spPr>
        <p:txBody>
          <a:bodyPr wrap="square">
            <a:spAutoFit/>
          </a:bodyPr>
          <a:lstStyle/>
          <a:p>
            <a:pPr algn="l"/>
            <a:r>
              <a:rPr sz="1600" b="1" i="0">
                <a:solidFill>
                  <a:srgbClr val="1A2857"/>
                </a:solidFill>
                <a:latin typeface="Calibri"/>
              </a:rPr>
              <a:t>Is Human in the Loop primarily a safety mechanism or a workforce-substitution mechanism?</a:t>
            </a:r>
          </a:p>
        </p:txBody>
      </p:sp>
      <p:sp>
        <p:nvSpPr>
          <p:cNvPr id="26" name="Rectangle 25"/>
          <p:cNvSpPr/>
          <p:nvPr/>
        </p:nvSpPr>
        <p:spPr>
          <a:xfrm>
            <a:off x="6263640"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2359152"/>
            <a:ext cx="256032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2487168"/>
            <a:ext cx="2560320" cy="502920"/>
          </a:xfrm>
          <a:prstGeom prst="rect">
            <a:avLst/>
          </a:prstGeom>
          <a:noFill/>
        </p:spPr>
        <p:txBody>
          <a:bodyPr wrap="square">
            <a:spAutoFit/>
          </a:bodyPr>
          <a:lstStyle/>
          <a:p>
            <a:pPr algn="ctr"/>
            <a:r>
              <a:rPr sz="2600" b="1" i="0">
                <a:solidFill>
                  <a:srgbClr val="2563EB"/>
                </a:solidFill>
                <a:latin typeface="Calibri"/>
              </a:rPr>
              <a:t>A</a:t>
            </a:r>
          </a:p>
        </p:txBody>
      </p:sp>
      <p:sp>
        <p:nvSpPr>
          <p:cNvPr id="29" name="TextBox 28"/>
          <p:cNvSpPr txBox="1"/>
          <p:nvPr/>
        </p:nvSpPr>
        <p:spPr>
          <a:xfrm>
            <a:off x="6373368" y="3017520"/>
            <a:ext cx="2340863" cy="1371600"/>
          </a:xfrm>
          <a:prstGeom prst="rect">
            <a:avLst/>
          </a:prstGeom>
          <a:noFill/>
        </p:spPr>
        <p:txBody>
          <a:bodyPr wrap="square">
            <a:spAutoFit/>
          </a:bodyPr>
          <a:lstStyle/>
          <a:p>
            <a:pPr algn="ctr"/>
            <a:r>
              <a:rPr sz="1400" b="0" i="0">
                <a:solidFill>
                  <a:srgbClr val="0F172A"/>
                </a:solidFill>
                <a:latin typeface="Calibri"/>
              </a:rPr>
              <a:t>A safety mechanism</a:t>
            </a:r>
          </a:p>
        </p:txBody>
      </p:sp>
      <p:sp>
        <p:nvSpPr>
          <p:cNvPr id="30" name="Rectangle 29"/>
          <p:cNvSpPr/>
          <p:nvPr/>
        </p:nvSpPr>
        <p:spPr>
          <a:xfrm>
            <a:off x="9052559"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2559" y="2359152"/>
            <a:ext cx="256032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59" y="2487168"/>
            <a:ext cx="2560320" cy="502920"/>
          </a:xfrm>
          <a:prstGeom prst="rect">
            <a:avLst/>
          </a:prstGeom>
          <a:noFill/>
        </p:spPr>
        <p:txBody>
          <a:bodyPr wrap="square">
            <a:spAutoFit/>
          </a:bodyPr>
          <a:lstStyle/>
          <a:p>
            <a:pPr algn="ctr"/>
            <a:r>
              <a:rPr sz="2600" b="1" i="0">
                <a:solidFill>
                  <a:srgbClr val="7C3AED"/>
                </a:solidFill>
                <a:latin typeface="Calibri"/>
              </a:rPr>
              <a:t>B</a:t>
            </a:r>
          </a:p>
        </p:txBody>
      </p:sp>
      <p:sp>
        <p:nvSpPr>
          <p:cNvPr id="33" name="TextBox 32"/>
          <p:cNvSpPr txBox="1"/>
          <p:nvPr/>
        </p:nvSpPr>
        <p:spPr>
          <a:xfrm>
            <a:off x="9162287" y="3017520"/>
            <a:ext cx="2340863" cy="1371600"/>
          </a:xfrm>
          <a:prstGeom prst="rect">
            <a:avLst/>
          </a:prstGeom>
          <a:noFill/>
        </p:spPr>
        <p:txBody>
          <a:bodyPr wrap="square">
            <a:spAutoFit/>
          </a:bodyPr>
          <a:lstStyle/>
          <a:p>
            <a:pPr algn="ctr"/>
            <a:r>
              <a:rPr sz="1400" b="0" i="0">
                <a:solidFill>
                  <a:srgbClr val="0F172A"/>
                </a:solidFill>
                <a:latin typeface="Calibri"/>
              </a:rPr>
              <a:t>A workforce-substitution mechanism</a:t>
            </a:r>
          </a:p>
        </p:txBody>
      </p:sp>
      <p:sp>
        <p:nvSpPr>
          <p:cNvPr id="34" name="Rectangle 33"/>
          <p:cNvSpPr/>
          <p:nvPr/>
        </p:nvSpPr>
        <p:spPr>
          <a:xfrm>
            <a:off x="6263640" y="4983480"/>
            <a:ext cx="553212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4983480"/>
            <a:ext cx="54864" cy="16002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5029200"/>
            <a:ext cx="5212080" cy="292608"/>
          </a:xfrm>
          <a:prstGeom prst="rect">
            <a:avLst/>
          </a:prstGeom>
          <a:noFill/>
        </p:spPr>
        <p:txBody>
          <a:bodyPr wrap="square">
            <a:spAutoFit/>
          </a:bodyPr>
          <a:lstStyle/>
          <a:p>
            <a:pPr algn="l"/>
            <a:r>
              <a:rPr sz="1000" b="1" i="0">
                <a:solidFill>
                  <a:srgbClr val="1A2857"/>
                </a:solidFill>
                <a:latin typeface="Calibri"/>
              </a:rPr>
              <a:t>DISCUSSION PROMPTS FOR PANELISTS</a:t>
            </a:r>
          </a:p>
        </p:txBody>
      </p:sp>
      <p:sp>
        <p:nvSpPr>
          <p:cNvPr id="37" name="TextBox 36"/>
          <p:cNvSpPr txBox="1"/>
          <p:nvPr/>
        </p:nvSpPr>
        <p:spPr>
          <a:xfrm>
            <a:off x="6446520" y="5367528"/>
            <a:ext cx="5212080" cy="365760"/>
          </a:xfrm>
          <a:prstGeom prst="rect">
            <a:avLst/>
          </a:prstGeom>
          <a:noFill/>
        </p:spPr>
        <p:txBody>
          <a:bodyPr wrap="square">
            <a:spAutoFit/>
          </a:bodyPr>
          <a:lstStyle/>
          <a:p>
            <a:pPr algn="l"/>
            <a:r>
              <a:rPr sz="1100" b="0" i="0">
                <a:solidFill>
                  <a:srgbClr val="64748B"/>
                </a:solidFill>
                <a:latin typeface="Calibri"/>
              </a:rPr>
              <a:t>• If we accept that the nurse is the human in the loop, is the term doing any work? What is it actually certifying?</a:t>
            </a:r>
          </a:p>
        </p:txBody>
      </p:sp>
      <p:sp>
        <p:nvSpPr>
          <p:cNvPr id="38" name="TextBox 37"/>
          <p:cNvSpPr txBox="1"/>
          <p:nvPr/>
        </p:nvSpPr>
        <p:spPr>
          <a:xfrm>
            <a:off x="6446520" y="5769864"/>
            <a:ext cx="5212080" cy="365760"/>
          </a:xfrm>
          <a:prstGeom prst="rect">
            <a:avLst/>
          </a:prstGeom>
          <a:noFill/>
        </p:spPr>
        <p:txBody>
          <a:bodyPr wrap="square">
            <a:spAutoFit/>
          </a:bodyPr>
          <a:lstStyle/>
          <a:p>
            <a:pPr algn="l"/>
            <a:r>
              <a:rPr sz="1100" b="0" i="0">
                <a:solidFill>
                  <a:srgbClr val="64748B"/>
                </a:solidFill>
                <a:latin typeface="Calibri"/>
              </a:rPr>
              <a:t>• If we say it's not HITL, are we saying this deployment shouldn't happen? Because in many districts, the alternative is n…</a:t>
            </a:r>
          </a:p>
        </p:txBody>
      </p:sp>
      <p:sp>
        <p:nvSpPr>
          <p:cNvPr id="39" name="TextBox 38"/>
          <p:cNvSpPr txBox="1"/>
          <p:nvPr/>
        </p:nvSpPr>
        <p:spPr>
          <a:xfrm>
            <a:off x="6446520" y="6172200"/>
            <a:ext cx="5212080" cy="365760"/>
          </a:xfrm>
          <a:prstGeom prst="rect">
            <a:avLst/>
          </a:prstGeom>
          <a:noFill/>
        </p:spPr>
        <p:txBody>
          <a:bodyPr wrap="square">
            <a:spAutoFit/>
          </a:bodyPr>
          <a:lstStyle/>
          <a:p>
            <a:pPr algn="l"/>
            <a:r>
              <a:rPr sz="1100" b="0" i="0">
                <a:solidFill>
                  <a:srgbClr val="64748B"/>
                </a:solidFill>
                <a:latin typeface="Calibri"/>
              </a:rPr>
              <a:t>• Should the term distinguish between "human supervising AI" (clinician oversight) and "human enabled by AI" (frontline wo…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38404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384048"/>
          </a:xfrm>
          <a:prstGeom prst="rect">
            <a:avLst/>
          </a:prstGeom>
          <a:noFill/>
        </p:spPr>
        <p:txBody>
          <a:bodyPr wrap="square" anchor="ctr"/>
          <a:lstStyle/>
          <a:p>
            <a:pPr algn="ctr"/>
            <a:r>
              <a:rPr sz="10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874519"/>
            <a:ext cx="7772400" cy="1280160"/>
          </a:xfrm>
          <a:prstGeom prst="rect">
            <a:avLst/>
          </a:prstGeom>
          <a:noFill/>
        </p:spPr>
        <p:txBody>
          <a:bodyPr wrap="square">
            <a:spAutoFit/>
          </a:bodyPr>
          <a:lstStyle/>
          <a:p>
            <a:pPr algn="l"/>
            <a:r>
              <a:rPr sz="4400" b="1" i="0">
                <a:solidFill>
                  <a:srgbClr val="FFFFFF"/>
                </a:solidFill>
                <a:latin typeface="Calibri"/>
              </a:rPr>
              <a:t>Performance</a:t>
            </a:r>
          </a:p>
        </p:txBody>
      </p:sp>
      <p:sp>
        <p:nvSpPr>
          <p:cNvPr id="7" name="TextBox 6"/>
          <p:cNvSpPr txBox="1"/>
          <p:nvPr/>
        </p:nvSpPr>
        <p:spPr>
          <a:xfrm>
            <a:off x="685800" y="3246120"/>
            <a:ext cx="7498079" cy="1188720"/>
          </a:xfrm>
          <a:prstGeom prst="rect">
            <a:avLst/>
          </a:prstGeom>
          <a:noFill/>
        </p:spPr>
        <p:txBody>
          <a:bodyPr wrap="square">
            <a:spAutoFit/>
          </a:bodyPr>
          <a:lstStyle/>
          <a:p>
            <a:pPr algn="l"/>
            <a:r>
              <a:rPr sz="1500" b="0" i="1">
                <a:solidFill>
                  <a:srgbClr val="AABBD6"/>
                </a:solidFill>
                <a:latin typeface="Calibri"/>
              </a:rPr>
              <a:t>Measures of how well an AI tool performs on a given task, typically derived from model evaluation on a test dataset.</a:t>
            </a:r>
          </a:p>
        </p:txBody>
      </p:sp>
      <p:sp>
        <p:nvSpPr>
          <p:cNvPr id="8" name="TextBox 7"/>
          <p:cNvSpPr txBox="1"/>
          <p:nvPr/>
        </p:nvSpPr>
        <p:spPr>
          <a:xfrm>
            <a:off x="685800" y="4572000"/>
            <a:ext cx="10515600" cy="914400"/>
          </a:xfrm>
          <a:prstGeom prst="rect">
            <a:avLst/>
          </a:prstGeom>
          <a:noFill/>
        </p:spPr>
        <p:txBody>
          <a:bodyPr wrap="square">
            <a:spAutoFit/>
          </a:bodyPr>
          <a:lstStyle/>
          <a:p>
            <a:pPr algn="l"/>
            <a:r>
              <a:rPr sz="1500" b="1" i="1">
                <a:solidFill>
                  <a:srgbClr val="F5C000"/>
                </a:solidFill>
                <a:latin typeface="Calibri"/>
              </a:rPr>
              <a:t>Key question: "Performance according to whom, measured how, and sufficient for what decision?"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PERFORMANCE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 1 — How Do You Define It?</a:t>
            </a:r>
          </a:p>
        </p:txBody>
      </p:sp>
      <p:sp>
        <p:nvSpPr>
          <p:cNvPr id="6" name="Rectangle 5"/>
          <p:cNvSpPr/>
          <p:nvPr/>
        </p:nvSpPr>
        <p:spPr>
          <a:xfrm>
            <a:off x="365760" y="960120"/>
            <a:ext cx="11430000" cy="713232"/>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713232"/>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621792"/>
          </a:xfrm>
          <a:prstGeom prst="rect">
            <a:avLst/>
          </a:prstGeom>
          <a:noFill/>
        </p:spPr>
        <p:txBody>
          <a:bodyPr wrap="square">
            <a:spAutoFit/>
          </a:bodyPr>
          <a:lstStyle/>
          <a:p>
            <a:pPr algn="l"/>
            <a:r>
              <a:rPr sz="1300" b="0" i="1">
                <a:solidFill>
                  <a:srgbClr val="1A2857"/>
                </a:solidFill>
                <a:latin typeface="Calibri"/>
              </a:rPr>
              <a:t>Measures of how well an AI tool performs on a given task, typically derived from model evaluation on a test dataset.</a:t>
            </a:r>
          </a:p>
        </p:txBody>
      </p:sp>
      <p:sp>
        <p:nvSpPr>
          <p:cNvPr id="9" name="TextBox 8"/>
          <p:cNvSpPr txBox="1"/>
          <p:nvPr/>
        </p:nvSpPr>
        <p:spPr>
          <a:xfrm>
            <a:off x="365760" y="1773936"/>
            <a:ext cx="11430000" cy="347472"/>
          </a:xfrm>
          <a:prstGeom prst="rect">
            <a:avLst/>
          </a:prstGeom>
          <a:noFill/>
        </p:spPr>
        <p:txBody>
          <a:bodyPr wrap="square">
            <a:spAutoFit/>
          </a:bodyPr>
          <a:lstStyle/>
          <a:p>
            <a:pPr algn="l"/>
            <a:r>
              <a:rPr sz="1300" b="0" i="0">
                <a:solidFill>
                  <a:srgbClr val="64748B"/>
                </a:solidFill>
                <a:latin typeface="Calibri"/>
              </a:rPr>
              <a:t>Here are four ways to think about performance for an AI tool in public health. Select the one closest to how YOU understand the term.</a:t>
            </a:r>
          </a:p>
        </p:txBody>
      </p:sp>
      <p:sp>
        <p:nvSpPr>
          <p:cNvPr id="10" name="Rectangle 9"/>
          <p:cNvSpPr/>
          <p:nvPr/>
        </p:nvSpPr>
        <p:spPr>
          <a:xfrm>
            <a:off x="36576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121408"/>
            <a:ext cx="64008" cy="187451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 y="2231136"/>
            <a:ext cx="29260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231136"/>
            <a:ext cx="292608" cy="292608"/>
          </a:xfrm>
          <a:prstGeom prst="rect">
            <a:avLst/>
          </a:prstGeom>
          <a:noFill/>
        </p:spPr>
        <p:txBody>
          <a:bodyPr wrap="square" anchor="ctr"/>
          <a:lstStyle/>
          <a:p>
            <a:pPr algn="ctr"/>
            <a:r>
              <a:rPr sz="1200" b="1" i="0">
                <a:solidFill>
                  <a:srgbClr val="FFFFFF"/>
                </a:solidFill>
                <a:latin typeface="Calibri"/>
              </a:rPr>
              <a:t>A</a:t>
            </a:r>
          </a:p>
        </p:txBody>
      </p:sp>
      <p:sp>
        <p:nvSpPr>
          <p:cNvPr id="14" name="TextBox 13"/>
          <p:cNvSpPr txBox="1"/>
          <p:nvPr/>
        </p:nvSpPr>
        <p:spPr>
          <a:xfrm>
            <a:off x="841248" y="2212848"/>
            <a:ext cx="5102352" cy="1581911"/>
          </a:xfrm>
          <a:prstGeom prst="rect">
            <a:avLst/>
          </a:prstGeom>
          <a:noFill/>
        </p:spPr>
        <p:txBody>
          <a:bodyPr wrap="square">
            <a:spAutoFit/>
          </a:bodyPr>
          <a:lstStyle/>
          <a:p>
            <a:pPr algn="l"/>
            <a:r>
              <a:rPr sz="1200" b="0" i="0">
                <a:solidFill>
                  <a:srgbClr val="0F172A"/>
                </a:solidFill>
                <a:latin typeface="Calibri"/>
              </a:rPr>
              <a:t>Measures of clinical performance: how well the tool supports correct clinical decisions in real practice, including agreement with expert reviewers.</a:t>
            </a:r>
          </a:p>
        </p:txBody>
      </p:sp>
      <p:sp>
        <p:nvSpPr>
          <p:cNvPr id="15" name="TextBox 14"/>
          <p:cNvSpPr txBox="1"/>
          <p:nvPr/>
        </p:nvSpPr>
        <p:spPr>
          <a:xfrm>
            <a:off x="841248" y="3739895"/>
            <a:ext cx="5102352" cy="228600"/>
          </a:xfrm>
          <a:prstGeom prst="rect">
            <a:avLst/>
          </a:prstGeom>
          <a:noFill/>
        </p:spPr>
        <p:txBody>
          <a:bodyPr wrap="square">
            <a:spAutoFit/>
          </a:bodyPr>
          <a:lstStyle/>
          <a:p>
            <a:pPr algn="l"/>
            <a:r>
              <a:rPr sz="1100" b="0" i="1">
                <a:solidFill>
                  <a:srgbClr val="64748B"/>
                </a:solidFill>
                <a:latin typeface="Calibri"/>
              </a:rPr>
              <a:t>Clinical evaluation lens</a:t>
            </a:r>
          </a:p>
        </p:txBody>
      </p:sp>
      <p:sp>
        <p:nvSpPr>
          <p:cNvPr id="16" name="Rectangle 15"/>
          <p:cNvSpPr/>
          <p:nvPr/>
        </p:nvSpPr>
        <p:spPr>
          <a:xfrm>
            <a:off x="626364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121408"/>
            <a:ext cx="64008" cy="187451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73368" y="2231136"/>
            <a:ext cx="292608"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2231136"/>
            <a:ext cx="292608" cy="292608"/>
          </a:xfrm>
          <a:prstGeom prst="rect">
            <a:avLst/>
          </a:prstGeom>
          <a:noFill/>
        </p:spPr>
        <p:txBody>
          <a:bodyPr wrap="square" anchor="ctr"/>
          <a:lstStyle/>
          <a:p>
            <a:pPr algn="ctr"/>
            <a:r>
              <a:rPr sz="1200" b="1" i="0">
                <a:solidFill>
                  <a:srgbClr val="FFFFFF"/>
                </a:solidFill>
                <a:latin typeface="Calibri"/>
              </a:rPr>
              <a:t>B</a:t>
            </a:r>
          </a:p>
        </p:txBody>
      </p:sp>
      <p:sp>
        <p:nvSpPr>
          <p:cNvPr id="20" name="TextBox 19"/>
          <p:cNvSpPr txBox="1"/>
          <p:nvPr/>
        </p:nvSpPr>
        <p:spPr>
          <a:xfrm>
            <a:off x="6739127" y="2212848"/>
            <a:ext cx="5102352" cy="1581911"/>
          </a:xfrm>
          <a:prstGeom prst="rect">
            <a:avLst/>
          </a:prstGeom>
          <a:noFill/>
        </p:spPr>
        <p:txBody>
          <a:bodyPr wrap="square">
            <a:spAutoFit/>
          </a:bodyPr>
          <a:lstStyle/>
          <a:p>
            <a:pPr algn="l"/>
            <a:r>
              <a:rPr sz="1200" b="0" i="0">
                <a:solidFill>
                  <a:srgbClr val="0F172A"/>
                </a:solidFill>
                <a:latin typeface="Calibri"/>
              </a:rPr>
              <a:t>Measures of model accuracy on a test dataset, typically including precision, recall, F1 scores, and confusion matrix outputs.</a:t>
            </a:r>
          </a:p>
        </p:txBody>
      </p:sp>
      <p:sp>
        <p:nvSpPr>
          <p:cNvPr id="21" name="TextBox 20"/>
          <p:cNvSpPr txBox="1"/>
          <p:nvPr/>
        </p:nvSpPr>
        <p:spPr>
          <a:xfrm>
            <a:off x="6739127" y="3739895"/>
            <a:ext cx="5102352" cy="228600"/>
          </a:xfrm>
          <a:prstGeom prst="rect">
            <a:avLst/>
          </a:prstGeom>
          <a:noFill/>
        </p:spPr>
        <p:txBody>
          <a:bodyPr wrap="square">
            <a:spAutoFit/>
          </a:bodyPr>
          <a:lstStyle/>
          <a:p>
            <a:pPr algn="l"/>
            <a:r>
              <a:rPr sz="1100" b="0" i="1">
                <a:solidFill>
                  <a:srgbClr val="64748B"/>
                </a:solidFill>
                <a:latin typeface="Calibri"/>
              </a:rPr>
              <a:t>ML / developer lens</a:t>
            </a:r>
          </a:p>
        </p:txBody>
      </p:sp>
      <p:sp>
        <p:nvSpPr>
          <p:cNvPr id="22" name="Rectangle 21"/>
          <p:cNvSpPr/>
          <p:nvPr/>
        </p:nvSpPr>
        <p:spPr>
          <a:xfrm>
            <a:off x="36576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187952"/>
            <a:ext cx="64008" cy="187451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 y="4297680"/>
            <a:ext cx="292608"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297680"/>
            <a:ext cx="292608" cy="292608"/>
          </a:xfrm>
          <a:prstGeom prst="rect">
            <a:avLst/>
          </a:prstGeom>
          <a:noFill/>
        </p:spPr>
        <p:txBody>
          <a:bodyPr wrap="square" anchor="ctr"/>
          <a:lstStyle/>
          <a:p>
            <a:pPr algn="ctr"/>
            <a:r>
              <a:rPr sz="1200" b="1" i="0">
                <a:solidFill>
                  <a:srgbClr val="FFFFFF"/>
                </a:solidFill>
                <a:latin typeface="Calibri"/>
              </a:rPr>
              <a:t>C</a:t>
            </a:r>
          </a:p>
        </p:txBody>
      </p:sp>
      <p:sp>
        <p:nvSpPr>
          <p:cNvPr id="26" name="TextBox 25"/>
          <p:cNvSpPr txBox="1"/>
          <p:nvPr/>
        </p:nvSpPr>
        <p:spPr>
          <a:xfrm>
            <a:off x="841248" y="4279392"/>
            <a:ext cx="5102352" cy="1581911"/>
          </a:xfrm>
          <a:prstGeom prst="rect">
            <a:avLst/>
          </a:prstGeom>
          <a:noFill/>
        </p:spPr>
        <p:txBody>
          <a:bodyPr wrap="square">
            <a:spAutoFit/>
          </a:bodyPr>
          <a:lstStyle/>
          <a:p>
            <a:pPr algn="l"/>
            <a:r>
              <a:rPr sz="1200" b="0" i="0">
                <a:solidFill>
                  <a:srgbClr val="0F172A"/>
                </a:solidFill>
                <a:latin typeface="Calibri"/>
              </a:rPr>
              <a:t>Measures relevant to procurement and sustainability: uptime, integration cost, frontline user adoption, total cost per case and operational reliability.</a:t>
            </a:r>
          </a:p>
        </p:txBody>
      </p:sp>
      <p:sp>
        <p:nvSpPr>
          <p:cNvPr id="27" name="TextBox 26"/>
          <p:cNvSpPr txBox="1"/>
          <p:nvPr/>
        </p:nvSpPr>
        <p:spPr>
          <a:xfrm>
            <a:off x="841248" y="5806440"/>
            <a:ext cx="5102352" cy="228600"/>
          </a:xfrm>
          <a:prstGeom prst="rect">
            <a:avLst/>
          </a:prstGeom>
          <a:noFill/>
        </p:spPr>
        <p:txBody>
          <a:bodyPr wrap="square">
            <a:spAutoFit/>
          </a:bodyPr>
          <a:lstStyle/>
          <a:p>
            <a:pPr algn="l"/>
            <a:r>
              <a:rPr sz="1100" b="0" i="1">
                <a:solidFill>
                  <a:srgbClr val="64748B"/>
                </a:solidFill>
                <a:latin typeface="Calibri"/>
              </a:rPr>
              <a:t>Health system / Ministry decision-maker lens</a:t>
            </a:r>
          </a:p>
        </p:txBody>
      </p:sp>
      <p:sp>
        <p:nvSpPr>
          <p:cNvPr id="28" name="Rectangle 27"/>
          <p:cNvSpPr/>
          <p:nvPr/>
        </p:nvSpPr>
        <p:spPr>
          <a:xfrm>
            <a:off x="626364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187952"/>
            <a:ext cx="64008" cy="187451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73368" y="4297680"/>
            <a:ext cx="292608"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3368" y="4297680"/>
            <a:ext cx="292608" cy="292608"/>
          </a:xfrm>
          <a:prstGeom prst="rect">
            <a:avLst/>
          </a:prstGeom>
          <a:noFill/>
        </p:spPr>
        <p:txBody>
          <a:bodyPr wrap="square" anchor="ctr"/>
          <a:lstStyle/>
          <a:p>
            <a:pPr algn="ctr"/>
            <a:r>
              <a:rPr sz="1200" b="1" i="0">
                <a:solidFill>
                  <a:srgbClr val="FFFFFF"/>
                </a:solidFill>
                <a:latin typeface="Calibri"/>
              </a:rPr>
              <a:t>D</a:t>
            </a:r>
          </a:p>
        </p:txBody>
      </p:sp>
      <p:sp>
        <p:nvSpPr>
          <p:cNvPr id="32" name="TextBox 31"/>
          <p:cNvSpPr txBox="1"/>
          <p:nvPr/>
        </p:nvSpPr>
        <p:spPr>
          <a:xfrm>
            <a:off x="6739127" y="4279392"/>
            <a:ext cx="5102352" cy="1581911"/>
          </a:xfrm>
          <a:prstGeom prst="rect">
            <a:avLst/>
          </a:prstGeom>
          <a:noFill/>
        </p:spPr>
        <p:txBody>
          <a:bodyPr wrap="square">
            <a:spAutoFit/>
          </a:bodyPr>
          <a:lstStyle/>
          <a:p>
            <a:pPr algn="l"/>
            <a:r>
              <a:rPr sz="1200" b="0" i="0">
                <a:solidFill>
                  <a:srgbClr val="0F172A"/>
                </a:solidFill>
                <a:latin typeface="Calibri"/>
              </a:rPr>
              <a:t>Measures of population-level impact: change in detection rates, time-to-treatment, quality of treatment and downstream health outcomes attributable to the tool.</a:t>
            </a:r>
          </a:p>
        </p:txBody>
      </p:sp>
      <p:sp>
        <p:nvSpPr>
          <p:cNvPr id="33" name="TextBox 32"/>
          <p:cNvSpPr txBox="1"/>
          <p:nvPr/>
        </p:nvSpPr>
        <p:spPr>
          <a:xfrm>
            <a:off x="6739127" y="5806440"/>
            <a:ext cx="5102352" cy="228600"/>
          </a:xfrm>
          <a:prstGeom prst="rect">
            <a:avLst/>
          </a:prstGeom>
          <a:noFill/>
        </p:spPr>
        <p:txBody>
          <a:bodyPr wrap="square">
            <a:spAutoFit/>
          </a:bodyPr>
          <a:lstStyle/>
          <a:p>
            <a:pPr algn="l"/>
            <a:r>
              <a:rPr sz="1100" b="0" i="1">
                <a:solidFill>
                  <a:srgbClr val="64748B"/>
                </a:solidFill>
                <a:latin typeface="Calibri"/>
              </a:rPr>
              <a:t>Program evaluation lens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PERFORMANCE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Exercises 2 &amp; 3 — Scenario and Lightning Vote</a:t>
            </a:r>
          </a:p>
        </p:txBody>
      </p:sp>
      <p:sp>
        <p:nvSpPr>
          <p:cNvPr id="6" name="Rectangle 5"/>
          <p:cNvSpPr/>
          <p:nvPr/>
        </p:nvSpPr>
        <p:spPr>
          <a:xfrm>
            <a:off x="365760" y="960120"/>
            <a:ext cx="54864" cy="4937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60120"/>
            <a:ext cx="5303520" cy="292608"/>
          </a:xfrm>
          <a:prstGeom prst="rect">
            <a:avLst/>
          </a:prstGeom>
          <a:noFill/>
        </p:spPr>
        <p:txBody>
          <a:bodyPr wrap="square">
            <a:spAutoFit/>
          </a:bodyPr>
          <a:lstStyle/>
          <a:p>
            <a:pPr algn="l"/>
            <a:r>
              <a:rPr sz="1100" b="1" i="0">
                <a:solidFill>
                  <a:srgbClr val="2563EB"/>
                </a:solidFill>
                <a:latin typeface="Calibri"/>
              </a:rPr>
              <a:t>EXERCISE 2 — SCENARIO</a:t>
            </a:r>
          </a:p>
        </p:txBody>
      </p:sp>
      <p:sp>
        <p:nvSpPr>
          <p:cNvPr id="8" name="Rectangle 7"/>
          <p:cNvSpPr/>
          <p:nvPr/>
        </p:nvSpPr>
        <p:spPr>
          <a:xfrm>
            <a:off x="365760" y="1316736"/>
            <a:ext cx="5486400" cy="201168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16736"/>
            <a:ext cx="54864" cy="201168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26464"/>
            <a:ext cx="53035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11" name="TextBox 10"/>
          <p:cNvSpPr txBox="1"/>
          <p:nvPr/>
        </p:nvSpPr>
        <p:spPr>
          <a:xfrm>
            <a:off x="502920" y="1664207"/>
            <a:ext cx="5303520" cy="1572768"/>
          </a:xfrm>
          <a:prstGeom prst="rect">
            <a:avLst/>
          </a:prstGeom>
          <a:noFill/>
        </p:spPr>
        <p:txBody>
          <a:bodyPr wrap="square">
            <a:spAutoFit/>
          </a:bodyPr>
          <a:lstStyle/>
          <a:p>
            <a:pPr algn="l"/>
            <a:r>
              <a:rPr sz="1200" b="0" i="0">
                <a:solidFill>
                  <a:srgbClr val="FFFFFF"/>
                </a:solidFill>
                <a:latin typeface="Calibri"/>
              </a:rPr>
              <a:t>Your organization has implemented a maternal health WhatsApp chatbot deployed in partnership with the Ministry of Health. After 18 months, you report 92% accuracy on intent recognition, 88% user satisfaction in a 500-person sample, and 1.2 million messages handled. The Ministry is deciding whether to absorb the chatbot into its routine program budget.</a:t>
            </a:r>
          </a:p>
        </p:txBody>
      </p:sp>
      <p:sp>
        <p:nvSpPr>
          <p:cNvPr id="12" name="TextBox 11"/>
          <p:cNvSpPr txBox="1"/>
          <p:nvPr/>
        </p:nvSpPr>
        <p:spPr>
          <a:xfrm>
            <a:off x="365760" y="3401568"/>
            <a:ext cx="5486400" cy="384048"/>
          </a:xfrm>
          <a:prstGeom prst="rect">
            <a:avLst/>
          </a:prstGeom>
          <a:noFill/>
        </p:spPr>
        <p:txBody>
          <a:bodyPr wrap="square">
            <a:spAutoFit/>
          </a:bodyPr>
          <a:lstStyle/>
          <a:p>
            <a:pPr algn="l"/>
            <a:r>
              <a:rPr sz="1500" b="1" i="0">
                <a:solidFill>
                  <a:srgbClr val="1A2857"/>
                </a:solidFill>
                <a:latin typeface="Calibri"/>
              </a:rPr>
              <a:t>Are these the right performance metrics for the Ministry's decision?</a:t>
            </a:r>
          </a:p>
        </p:txBody>
      </p:sp>
      <p:sp>
        <p:nvSpPr>
          <p:cNvPr id="13" name="Rectangle 12"/>
          <p:cNvSpPr/>
          <p:nvPr/>
        </p:nvSpPr>
        <p:spPr>
          <a:xfrm>
            <a:off x="365760" y="3858768"/>
            <a:ext cx="54864" cy="5669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3858768"/>
            <a:ext cx="256032" cy="566928"/>
          </a:xfrm>
          <a:prstGeom prst="rect">
            <a:avLst/>
          </a:prstGeom>
          <a:noFill/>
        </p:spPr>
        <p:txBody>
          <a:bodyPr wrap="square" anchor="ctr"/>
          <a:lstStyle/>
          <a:p>
            <a:pPr algn="l"/>
            <a:r>
              <a:rPr sz="1300" b="1" i="0">
                <a:solidFill>
                  <a:srgbClr val="2563EB"/>
                </a:solidFill>
                <a:latin typeface="Calibri"/>
              </a:rPr>
              <a:t>A</a:t>
            </a:r>
          </a:p>
        </p:txBody>
      </p:sp>
      <p:sp>
        <p:nvSpPr>
          <p:cNvPr id="15" name="TextBox 14"/>
          <p:cNvSpPr txBox="1"/>
          <p:nvPr/>
        </p:nvSpPr>
        <p:spPr>
          <a:xfrm>
            <a:off x="768096" y="3858768"/>
            <a:ext cx="5029200" cy="566928"/>
          </a:xfrm>
          <a:prstGeom prst="rect">
            <a:avLst/>
          </a:prstGeom>
          <a:noFill/>
        </p:spPr>
        <p:txBody>
          <a:bodyPr wrap="square" anchor="ctr"/>
          <a:lstStyle/>
          <a:p>
            <a:pPr algn="l"/>
            <a:r>
              <a:rPr sz="1300" b="0" i="0">
                <a:solidFill>
                  <a:srgbClr val="0F172A"/>
                </a:solidFill>
                <a:latin typeface="Calibri"/>
              </a:rPr>
              <a:t>Yes. These are standard, widely accepted measures.</a:t>
            </a:r>
          </a:p>
        </p:txBody>
      </p:sp>
      <p:sp>
        <p:nvSpPr>
          <p:cNvPr id="16" name="Rectangle 15"/>
          <p:cNvSpPr/>
          <p:nvPr/>
        </p:nvSpPr>
        <p:spPr>
          <a:xfrm>
            <a:off x="365760" y="4572000"/>
            <a:ext cx="54864"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4572000"/>
            <a:ext cx="256032" cy="566928"/>
          </a:xfrm>
          <a:prstGeom prst="rect">
            <a:avLst/>
          </a:prstGeom>
          <a:noFill/>
        </p:spPr>
        <p:txBody>
          <a:bodyPr wrap="square" anchor="ctr"/>
          <a:lstStyle/>
          <a:p>
            <a:pPr algn="l"/>
            <a:r>
              <a:rPr sz="1300" b="1" i="0">
                <a:solidFill>
                  <a:srgbClr val="7C3AED"/>
                </a:solidFill>
                <a:latin typeface="Calibri"/>
              </a:rPr>
              <a:t>B</a:t>
            </a:r>
          </a:p>
        </p:txBody>
      </p:sp>
      <p:sp>
        <p:nvSpPr>
          <p:cNvPr id="18" name="TextBox 17"/>
          <p:cNvSpPr txBox="1"/>
          <p:nvPr/>
        </p:nvSpPr>
        <p:spPr>
          <a:xfrm>
            <a:off x="768096" y="4572000"/>
            <a:ext cx="5029200" cy="566928"/>
          </a:xfrm>
          <a:prstGeom prst="rect">
            <a:avLst/>
          </a:prstGeom>
          <a:noFill/>
        </p:spPr>
        <p:txBody>
          <a:bodyPr wrap="square" anchor="ctr"/>
          <a:lstStyle/>
          <a:p>
            <a:pPr algn="l"/>
            <a:r>
              <a:rPr sz="1300" b="0" i="0">
                <a:solidFill>
                  <a:srgbClr val="0F172A"/>
                </a:solidFill>
                <a:latin typeface="Calibri"/>
              </a:rPr>
              <a:t>No. They don't tell the Ministry what it needs to know.</a:t>
            </a:r>
          </a:p>
        </p:txBody>
      </p:sp>
      <p:sp>
        <p:nvSpPr>
          <p:cNvPr id="19" name="Rectangle 18"/>
          <p:cNvSpPr/>
          <p:nvPr/>
        </p:nvSpPr>
        <p:spPr>
          <a:xfrm>
            <a:off x="365760" y="5285231"/>
            <a:ext cx="54864" cy="5669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5285231"/>
            <a:ext cx="256032" cy="566928"/>
          </a:xfrm>
          <a:prstGeom prst="rect">
            <a:avLst/>
          </a:prstGeom>
          <a:noFill/>
        </p:spPr>
        <p:txBody>
          <a:bodyPr wrap="square" anchor="ctr"/>
          <a:lstStyle/>
          <a:p>
            <a:pPr algn="l"/>
            <a:r>
              <a:rPr sz="1300" b="1" i="0">
                <a:solidFill>
                  <a:srgbClr val="059669"/>
                </a:solidFill>
                <a:latin typeface="Calibri"/>
              </a:rPr>
              <a:t>C</a:t>
            </a:r>
          </a:p>
        </p:txBody>
      </p:sp>
      <p:sp>
        <p:nvSpPr>
          <p:cNvPr id="21" name="TextBox 20"/>
          <p:cNvSpPr txBox="1"/>
          <p:nvPr/>
        </p:nvSpPr>
        <p:spPr>
          <a:xfrm>
            <a:off x="768096" y="5285231"/>
            <a:ext cx="5029200" cy="566928"/>
          </a:xfrm>
          <a:prstGeom prst="rect">
            <a:avLst/>
          </a:prstGeom>
          <a:noFill/>
        </p:spPr>
        <p:txBody>
          <a:bodyPr wrap="square" anchor="ctr"/>
          <a:lstStyle/>
          <a:p>
            <a:pPr algn="l"/>
            <a:r>
              <a:rPr sz="1300" b="0" i="0">
                <a:solidFill>
                  <a:srgbClr val="0F172A"/>
                </a:solidFill>
                <a:latin typeface="Calibri"/>
              </a:rPr>
              <a:t>Partly. They're necessary but not sufficient.</a:t>
            </a:r>
          </a:p>
        </p:txBody>
      </p:sp>
      <p:sp>
        <p:nvSpPr>
          <p:cNvPr id="22" name="Rectangle 21"/>
          <p:cNvSpPr/>
          <p:nvPr/>
        </p:nvSpPr>
        <p:spPr>
          <a:xfrm>
            <a:off x="6126480" y="960120"/>
            <a:ext cx="36576" cy="5394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960120"/>
            <a:ext cx="54864" cy="4937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960120"/>
            <a:ext cx="5303520" cy="292608"/>
          </a:xfrm>
          <a:prstGeom prst="rect">
            <a:avLst/>
          </a:prstGeom>
          <a:noFill/>
        </p:spPr>
        <p:txBody>
          <a:bodyPr wrap="square">
            <a:spAutoFit/>
          </a:bodyPr>
          <a:lstStyle/>
          <a:p>
            <a:pPr algn="l"/>
            <a:r>
              <a:rPr sz="1100" b="1" i="0">
                <a:solidFill>
                  <a:srgbClr val="D97706"/>
                </a:solidFill>
                <a:latin typeface="Calibri"/>
              </a:rPr>
              <a:t>EXERCISE 3 — LIGHTNING VOTE</a:t>
            </a:r>
          </a:p>
        </p:txBody>
      </p:sp>
      <p:sp>
        <p:nvSpPr>
          <p:cNvPr id="25" name="TextBox 24"/>
          <p:cNvSpPr txBox="1"/>
          <p:nvPr/>
        </p:nvSpPr>
        <p:spPr>
          <a:xfrm>
            <a:off x="6263640" y="1316736"/>
            <a:ext cx="5532120" cy="914400"/>
          </a:xfrm>
          <a:prstGeom prst="rect">
            <a:avLst/>
          </a:prstGeom>
          <a:noFill/>
        </p:spPr>
        <p:txBody>
          <a:bodyPr wrap="square">
            <a:spAutoFit/>
          </a:bodyPr>
          <a:lstStyle/>
          <a:p>
            <a:pPr algn="l"/>
            <a:r>
              <a:rPr sz="1600" b="1" i="0">
                <a:solidFill>
                  <a:srgbClr val="1A2857"/>
                </a:solidFill>
                <a:latin typeface="Calibri"/>
              </a:rPr>
              <a:t>When you hear "this AI tool achieved 95% accuracy", what should the first follow-up question be?</a:t>
            </a:r>
          </a:p>
        </p:txBody>
      </p:sp>
      <p:sp>
        <p:nvSpPr>
          <p:cNvPr id="26" name="Rectangle 25"/>
          <p:cNvSpPr/>
          <p:nvPr/>
        </p:nvSpPr>
        <p:spPr>
          <a:xfrm>
            <a:off x="6263640"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2359152"/>
            <a:ext cx="256032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2487168"/>
            <a:ext cx="2560320" cy="502920"/>
          </a:xfrm>
          <a:prstGeom prst="rect">
            <a:avLst/>
          </a:prstGeom>
          <a:noFill/>
        </p:spPr>
        <p:txBody>
          <a:bodyPr wrap="square">
            <a:spAutoFit/>
          </a:bodyPr>
          <a:lstStyle/>
          <a:p>
            <a:pPr algn="ctr"/>
            <a:r>
              <a:rPr sz="2600" b="1" i="0">
                <a:solidFill>
                  <a:srgbClr val="2563EB"/>
                </a:solidFill>
                <a:latin typeface="Calibri"/>
              </a:rPr>
              <a:t>A</a:t>
            </a:r>
          </a:p>
        </p:txBody>
      </p:sp>
      <p:sp>
        <p:nvSpPr>
          <p:cNvPr id="29" name="TextBox 28"/>
          <p:cNvSpPr txBox="1"/>
          <p:nvPr/>
        </p:nvSpPr>
        <p:spPr>
          <a:xfrm>
            <a:off x="6373368" y="3017520"/>
            <a:ext cx="2340863" cy="1371600"/>
          </a:xfrm>
          <a:prstGeom prst="rect">
            <a:avLst/>
          </a:prstGeom>
          <a:noFill/>
        </p:spPr>
        <p:txBody>
          <a:bodyPr wrap="square">
            <a:spAutoFit/>
          </a:bodyPr>
          <a:lstStyle/>
          <a:p>
            <a:pPr algn="ctr"/>
            <a:r>
              <a:rPr sz="1400" b="0" i="0">
                <a:solidFill>
                  <a:srgbClr val="0F172A"/>
                </a:solidFill>
                <a:latin typeface="Calibri"/>
              </a:rPr>
              <a:t>On what dataset?</a:t>
            </a:r>
          </a:p>
        </p:txBody>
      </p:sp>
      <p:sp>
        <p:nvSpPr>
          <p:cNvPr id="30" name="Rectangle 29"/>
          <p:cNvSpPr/>
          <p:nvPr/>
        </p:nvSpPr>
        <p:spPr>
          <a:xfrm>
            <a:off x="9052559"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2559" y="2359152"/>
            <a:ext cx="256032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59" y="2487168"/>
            <a:ext cx="2560320" cy="502920"/>
          </a:xfrm>
          <a:prstGeom prst="rect">
            <a:avLst/>
          </a:prstGeom>
          <a:noFill/>
        </p:spPr>
        <p:txBody>
          <a:bodyPr wrap="square">
            <a:spAutoFit/>
          </a:bodyPr>
          <a:lstStyle/>
          <a:p>
            <a:pPr algn="ctr"/>
            <a:r>
              <a:rPr sz="2600" b="1" i="0">
                <a:solidFill>
                  <a:srgbClr val="7C3AED"/>
                </a:solidFill>
                <a:latin typeface="Calibri"/>
              </a:rPr>
              <a:t>B</a:t>
            </a:r>
          </a:p>
        </p:txBody>
      </p:sp>
      <p:sp>
        <p:nvSpPr>
          <p:cNvPr id="33" name="TextBox 32"/>
          <p:cNvSpPr txBox="1"/>
          <p:nvPr/>
        </p:nvSpPr>
        <p:spPr>
          <a:xfrm>
            <a:off x="9162287" y="3017520"/>
            <a:ext cx="2340863" cy="1371600"/>
          </a:xfrm>
          <a:prstGeom prst="rect">
            <a:avLst/>
          </a:prstGeom>
          <a:noFill/>
        </p:spPr>
        <p:txBody>
          <a:bodyPr wrap="square">
            <a:spAutoFit/>
          </a:bodyPr>
          <a:lstStyle/>
          <a:p>
            <a:pPr algn="ctr"/>
            <a:r>
              <a:rPr sz="1400" b="0" i="0">
                <a:solidFill>
                  <a:srgbClr val="0F172A"/>
                </a:solidFill>
                <a:latin typeface="Calibri"/>
              </a:rPr>
              <a:t>What changed in program outcomes?</a:t>
            </a:r>
          </a:p>
        </p:txBody>
      </p:sp>
      <p:sp>
        <p:nvSpPr>
          <p:cNvPr id="34" name="Rectangle 33"/>
          <p:cNvSpPr/>
          <p:nvPr/>
        </p:nvSpPr>
        <p:spPr>
          <a:xfrm>
            <a:off x="6263640" y="4983480"/>
            <a:ext cx="553212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4983480"/>
            <a:ext cx="54864" cy="16002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5029200"/>
            <a:ext cx="5212080" cy="292608"/>
          </a:xfrm>
          <a:prstGeom prst="rect">
            <a:avLst/>
          </a:prstGeom>
          <a:noFill/>
        </p:spPr>
        <p:txBody>
          <a:bodyPr wrap="square">
            <a:spAutoFit/>
          </a:bodyPr>
          <a:lstStyle/>
          <a:p>
            <a:pPr algn="l"/>
            <a:r>
              <a:rPr sz="1000" b="1" i="0">
                <a:solidFill>
                  <a:srgbClr val="1A2857"/>
                </a:solidFill>
                <a:latin typeface="Calibri"/>
              </a:rPr>
              <a:t>DISCUSSION PROMPTS FOR PANELISTS</a:t>
            </a:r>
          </a:p>
        </p:txBody>
      </p:sp>
      <p:sp>
        <p:nvSpPr>
          <p:cNvPr id="37" name="TextBox 36"/>
          <p:cNvSpPr txBox="1"/>
          <p:nvPr/>
        </p:nvSpPr>
        <p:spPr>
          <a:xfrm>
            <a:off x="6446520" y="5367528"/>
            <a:ext cx="5212080" cy="365760"/>
          </a:xfrm>
          <a:prstGeom prst="rect">
            <a:avLst/>
          </a:prstGeom>
          <a:noFill/>
        </p:spPr>
        <p:txBody>
          <a:bodyPr wrap="square">
            <a:spAutoFit/>
          </a:bodyPr>
          <a:lstStyle/>
          <a:p>
            <a:pPr algn="l"/>
            <a:r>
              <a:rPr sz="1100" b="0" i="0">
                <a:solidFill>
                  <a:srgbClr val="64748B"/>
                </a:solidFill>
                <a:latin typeface="Calibri"/>
              </a:rPr>
              <a:t>• What's missing? (equity of access across language groups, behaviour change outcomes, harm cases, cost per enrolled user,…</a:t>
            </a:r>
          </a:p>
        </p:txBody>
      </p:sp>
      <p:sp>
        <p:nvSpPr>
          <p:cNvPr id="38" name="TextBox 37"/>
          <p:cNvSpPr txBox="1"/>
          <p:nvPr/>
        </p:nvSpPr>
        <p:spPr>
          <a:xfrm>
            <a:off x="6446520" y="5769864"/>
            <a:ext cx="5212080" cy="365760"/>
          </a:xfrm>
          <a:prstGeom prst="rect">
            <a:avLst/>
          </a:prstGeom>
          <a:noFill/>
        </p:spPr>
        <p:txBody>
          <a:bodyPr wrap="square">
            <a:spAutoFit/>
          </a:bodyPr>
          <a:lstStyle/>
          <a:p>
            <a:pPr algn="l"/>
            <a:r>
              <a:rPr sz="1100" b="0" i="0">
                <a:solidFill>
                  <a:srgbClr val="64748B"/>
                </a:solidFill>
                <a:latin typeface="Calibri"/>
              </a:rPr>
              <a:t>• If you were advising the Ministry, what is the ONE additional metric you would require before sign-off?</a:t>
            </a:r>
          </a:p>
        </p:txBody>
      </p:sp>
      <p:sp>
        <p:nvSpPr>
          <p:cNvPr id="39" name="TextBox 38"/>
          <p:cNvSpPr txBox="1"/>
          <p:nvPr/>
        </p:nvSpPr>
        <p:spPr>
          <a:xfrm>
            <a:off x="6446520" y="6172200"/>
            <a:ext cx="5212080" cy="365760"/>
          </a:xfrm>
          <a:prstGeom prst="rect">
            <a:avLst/>
          </a:prstGeom>
          <a:noFill/>
        </p:spPr>
        <p:txBody>
          <a:bodyPr wrap="square">
            <a:spAutoFit/>
          </a:bodyPr>
          <a:lstStyle/>
          <a:p>
            <a:pPr algn="l"/>
            <a:r>
              <a:rPr sz="1100" b="0" i="0">
                <a:solidFill>
                  <a:srgbClr val="64748B"/>
                </a:solidFill>
                <a:latin typeface="Calibri"/>
              </a:rPr>
              <a:t>• Whose job should it be to produce the metrics that matter? The product developer, the implementing partner, or the Minis…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38404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384048"/>
          </a:xfrm>
          <a:prstGeom prst="rect">
            <a:avLst/>
          </a:prstGeom>
          <a:noFill/>
        </p:spPr>
        <p:txBody>
          <a:bodyPr wrap="square" anchor="ctr"/>
          <a:lstStyle/>
          <a:p>
            <a:pPr algn="ctr"/>
            <a:r>
              <a:rPr sz="10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874519"/>
            <a:ext cx="7772400" cy="1280160"/>
          </a:xfrm>
          <a:prstGeom prst="rect">
            <a:avLst/>
          </a:prstGeom>
          <a:noFill/>
        </p:spPr>
        <p:txBody>
          <a:bodyPr wrap="square">
            <a:spAutoFit/>
          </a:bodyPr>
          <a:lstStyle/>
          <a:p>
            <a:pPr algn="l"/>
            <a:r>
              <a:rPr sz="4400" b="1" i="0">
                <a:solidFill>
                  <a:srgbClr val="FFFFFF"/>
                </a:solidFill>
                <a:latin typeface="Calibri"/>
              </a:rPr>
              <a:t>Hallucinations</a:t>
            </a:r>
          </a:p>
        </p:txBody>
      </p:sp>
      <p:sp>
        <p:nvSpPr>
          <p:cNvPr id="7" name="TextBox 6"/>
          <p:cNvSpPr txBox="1"/>
          <p:nvPr/>
        </p:nvSpPr>
        <p:spPr>
          <a:xfrm>
            <a:off x="685800" y="3246120"/>
            <a:ext cx="7498079" cy="1188720"/>
          </a:xfrm>
          <a:prstGeom prst="rect">
            <a:avLst/>
          </a:prstGeom>
          <a:noFill/>
        </p:spPr>
        <p:txBody>
          <a:bodyPr wrap="square">
            <a:spAutoFit/>
          </a:bodyPr>
          <a:lstStyle/>
          <a:p>
            <a:pPr algn="l"/>
            <a:r>
              <a:rPr sz="1500" b="0" i="1">
                <a:solidFill>
                  <a:srgbClr val="AABBD6"/>
                </a:solidFill>
                <a:latin typeface="Calibri"/>
              </a:rPr>
              <a:t>Outputs from a generative AI model that are factually incorrect, fabricated, or context-inappropriate, presented with the same confidence as correct answers.</a:t>
            </a:r>
          </a:p>
        </p:txBody>
      </p:sp>
      <p:sp>
        <p:nvSpPr>
          <p:cNvPr id="8" name="TextBox 7"/>
          <p:cNvSpPr txBox="1"/>
          <p:nvPr/>
        </p:nvSpPr>
        <p:spPr>
          <a:xfrm>
            <a:off x="685800" y="4572000"/>
            <a:ext cx="10515600" cy="914400"/>
          </a:xfrm>
          <a:prstGeom prst="rect">
            <a:avLst/>
          </a:prstGeom>
          <a:noFill/>
        </p:spPr>
        <p:txBody>
          <a:bodyPr wrap="square">
            <a:spAutoFit/>
          </a:bodyPr>
          <a:lstStyle/>
          <a:p>
            <a:pPr algn="l"/>
            <a:r>
              <a:rPr sz="1500" b="1" i="1">
                <a:solidFill>
                  <a:srgbClr val="F5C000"/>
                </a:solidFill>
                <a:latin typeface="Calibri"/>
              </a:rPr>
              <a:t>Key question: "What is the right comparison group: ideal performance, average clinician performance, or no guidance at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HALLUCINATIONS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 1 — How Do You Define It?</a:t>
            </a:r>
          </a:p>
        </p:txBody>
      </p:sp>
      <p:sp>
        <p:nvSpPr>
          <p:cNvPr id="6" name="Rectangle 5"/>
          <p:cNvSpPr/>
          <p:nvPr/>
        </p:nvSpPr>
        <p:spPr>
          <a:xfrm>
            <a:off x="365760" y="960120"/>
            <a:ext cx="11430000" cy="713232"/>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713232"/>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621792"/>
          </a:xfrm>
          <a:prstGeom prst="rect">
            <a:avLst/>
          </a:prstGeom>
          <a:noFill/>
        </p:spPr>
        <p:txBody>
          <a:bodyPr wrap="square">
            <a:spAutoFit/>
          </a:bodyPr>
          <a:lstStyle/>
          <a:p>
            <a:pPr algn="l"/>
            <a:r>
              <a:rPr sz="1300" b="0" i="1">
                <a:solidFill>
                  <a:srgbClr val="1A2857"/>
                </a:solidFill>
                <a:latin typeface="Calibri"/>
              </a:rPr>
              <a:t>Outputs from a generative AI model that are factually incorrect, fabricated, or context-inappropriate, presented with the same confidence as correct answers.</a:t>
            </a:r>
          </a:p>
        </p:txBody>
      </p:sp>
      <p:sp>
        <p:nvSpPr>
          <p:cNvPr id="9" name="TextBox 8"/>
          <p:cNvSpPr txBox="1"/>
          <p:nvPr/>
        </p:nvSpPr>
        <p:spPr>
          <a:xfrm>
            <a:off x="365760" y="1773936"/>
            <a:ext cx="11430000" cy="347472"/>
          </a:xfrm>
          <a:prstGeom prst="rect">
            <a:avLst/>
          </a:prstGeom>
          <a:noFill/>
        </p:spPr>
        <p:txBody>
          <a:bodyPr wrap="square">
            <a:spAutoFit/>
          </a:bodyPr>
          <a:lstStyle/>
          <a:p>
            <a:pPr algn="l"/>
            <a:r>
              <a:rPr sz="1300" b="0" i="0">
                <a:solidFill>
                  <a:srgbClr val="64748B"/>
                </a:solidFill>
                <a:latin typeface="Calibri"/>
              </a:rPr>
              <a:t>Four ways to define Hallucinations. Select the one closest to how YOU use the term.</a:t>
            </a:r>
          </a:p>
        </p:txBody>
      </p:sp>
      <p:sp>
        <p:nvSpPr>
          <p:cNvPr id="10" name="Rectangle 9"/>
          <p:cNvSpPr/>
          <p:nvPr/>
        </p:nvSpPr>
        <p:spPr>
          <a:xfrm>
            <a:off x="36576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121408"/>
            <a:ext cx="64008" cy="187451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 y="2231136"/>
            <a:ext cx="29260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231136"/>
            <a:ext cx="292608" cy="292608"/>
          </a:xfrm>
          <a:prstGeom prst="rect">
            <a:avLst/>
          </a:prstGeom>
          <a:noFill/>
        </p:spPr>
        <p:txBody>
          <a:bodyPr wrap="square" anchor="ctr"/>
          <a:lstStyle/>
          <a:p>
            <a:pPr algn="ctr"/>
            <a:r>
              <a:rPr sz="1200" b="1" i="0">
                <a:solidFill>
                  <a:srgbClr val="FFFFFF"/>
                </a:solidFill>
                <a:latin typeface="Calibri"/>
              </a:rPr>
              <a:t>A</a:t>
            </a:r>
          </a:p>
        </p:txBody>
      </p:sp>
      <p:sp>
        <p:nvSpPr>
          <p:cNvPr id="14" name="TextBox 13"/>
          <p:cNvSpPr txBox="1"/>
          <p:nvPr/>
        </p:nvSpPr>
        <p:spPr>
          <a:xfrm>
            <a:off x="841248" y="2212848"/>
            <a:ext cx="5102352" cy="1581911"/>
          </a:xfrm>
          <a:prstGeom prst="rect">
            <a:avLst/>
          </a:prstGeom>
          <a:noFill/>
        </p:spPr>
        <p:txBody>
          <a:bodyPr wrap="square">
            <a:spAutoFit/>
          </a:bodyPr>
          <a:lstStyle/>
          <a:p>
            <a:pPr algn="l"/>
            <a:r>
              <a:rPr sz="1200" b="0" i="0">
                <a:solidFill>
                  <a:srgbClr val="0F172A"/>
                </a:solidFill>
                <a:latin typeface="Calibri"/>
              </a:rPr>
              <a:t>A safety event in which a generative AI tool, deployed in a clinical or health-information context, gives advice that is plausibly worded but medically wrong, with potential to cause harm.</a:t>
            </a:r>
          </a:p>
        </p:txBody>
      </p:sp>
      <p:sp>
        <p:nvSpPr>
          <p:cNvPr id="15" name="TextBox 14"/>
          <p:cNvSpPr txBox="1"/>
          <p:nvPr/>
        </p:nvSpPr>
        <p:spPr>
          <a:xfrm>
            <a:off x="841248" y="3739895"/>
            <a:ext cx="5102352" cy="228600"/>
          </a:xfrm>
          <a:prstGeom prst="rect">
            <a:avLst/>
          </a:prstGeom>
          <a:noFill/>
        </p:spPr>
        <p:txBody>
          <a:bodyPr wrap="square">
            <a:spAutoFit/>
          </a:bodyPr>
          <a:lstStyle/>
          <a:p>
            <a:pPr algn="l"/>
            <a:r>
              <a:rPr sz="1100" b="0" i="1">
                <a:solidFill>
                  <a:srgbClr val="64748B"/>
                </a:solidFill>
                <a:latin typeface="Calibri"/>
              </a:rPr>
              <a:t>Clinical safety lens</a:t>
            </a:r>
          </a:p>
        </p:txBody>
      </p:sp>
      <p:sp>
        <p:nvSpPr>
          <p:cNvPr id="16" name="Rectangle 15"/>
          <p:cNvSpPr/>
          <p:nvPr/>
        </p:nvSpPr>
        <p:spPr>
          <a:xfrm>
            <a:off x="626364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121408"/>
            <a:ext cx="64008" cy="187451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73368" y="2231136"/>
            <a:ext cx="292608"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2231136"/>
            <a:ext cx="292608" cy="292608"/>
          </a:xfrm>
          <a:prstGeom prst="rect">
            <a:avLst/>
          </a:prstGeom>
          <a:noFill/>
        </p:spPr>
        <p:txBody>
          <a:bodyPr wrap="square" anchor="ctr"/>
          <a:lstStyle/>
          <a:p>
            <a:pPr algn="ctr"/>
            <a:r>
              <a:rPr sz="1200" b="1" i="0">
                <a:solidFill>
                  <a:srgbClr val="FFFFFF"/>
                </a:solidFill>
                <a:latin typeface="Calibri"/>
              </a:rPr>
              <a:t>B</a:t>
            </a:r>
          </a:p>
        </p:txBody>
      </p:sp>
      <p:sp>
        <p:nvSpPr>
          <p:cNvPr id="20" name="TextBox 19"/>
          <p:cNvSpPr txBox="1"/>
          <p:nvPr/>
        </p:nvSpPr>
        <p:spPr>
          <a:xfrm>
            <a:off x="6739127" y="2212848"/>
            <a:ext cx="5102352" cy="1581911"/>
          </a:xfrm>
          <a:prstGeom prst="rect">
            <a:avLst/>
          </a:prstGeom>
          <a:noFill/>
        </p:spPr>
        <p:txBody>
          <a:bodyPr wrap="square">
            <a:spAutoFit/>
          </a:bodyPr>
          <a:lstStyle/>
          <a:p>
            <a:pPr algn="l"/>
            <a:r>
              <a:rPr sz="1200" b="0" i="0">
                <a:solidFill>
                  <a:srgbClr val="0F172A"/>
                </a:solidFill>
                <a:latin typeface="Calibri"/>
              </a:rPr>
              <a:t>A failure mode of the model-context fit: an output that may be technically accurate against the model's training data but is wrong in the specific context where the user is reading it (wrong country, wrong guideline version, wrong population).</a:t>
            </a:r>
          </a:p>
        </p:txBody>
      </p:sp>
      <p:sp>
        <p:nvSpPr>
          <p:cNvPr id="21" name="TextBox 20"/>
          <p:cNvSpPr txBox="1"/>
          <p:nvPr/>
        </p:nvSpPr>
        <p:spPr>
          <a:xfrm>
            <a:off x="6739127" y="3739895"/>
            <a:ext cx="5102352" cy="228600"/>
          </a:xfrm>
          <a:prstGeom prst="rect">
            <a:avLst/>
          </a:prstGeom>
          <a:noFill/>
        </p:spPr>
        <p:txBody>
          <a:bodyPr wrap="square">
            <a:spAutoFit/>
          </a:bodyPr>
          <a:lstStyle/>
          <a:p>
            <a:pPr algn="l"/>
            <a:r>
              <a:rPr sz="1100" b="0" i="1">
                <a:solidFill>
                  <a:srgbClr val="64748B"/>
                </a:solidFill>
                <a:latin typeface="Calibri"/>
              </a:rPr>
              <a:t>Deployment / context lens</a:t>
            </a:r>
          </a:p>
        </p:txBody>
      </p:sp>
      <p:sp>
        <p:nvSpPr>
          <p:cNvPr id="22" name="Rectangle 21"/>
          <p:cNvSpPr/>
          <p:nvPr/>
        </p:nvSpPr>
        <p:spPr>
          <a:xfrm>
            <a:off x="36576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187952"/>
            <a:ext cx="64008" cy="187451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 y="4297680"/>
            <a:ext cx="292608"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297680"/>
            <a:ext cx="292608" cy="292608"/>
          </a:xfrm>
          <a:prstGeom prst="rect">
            <a:avLst/>
          </a:prstGeom>
          <a:noFill/>
        </p:spPr>
        <p:txBody>
          <a:bodyPr wrap="square" anchor="ctr"/>
          <a:lstStyle/>
          <a:p>
            <a:pPr algn="ctr"/>
            <a:r>
              <a:rPr sz="1200" b="1" i="0">
                <a:solidFill>
                  <a:srgbClr val="FFFFFF"/>
                </a:solidFill>
                <a:latin typeface="Calibri"/>
              </a:rPr>
              <a:t>C</a:t>
            </a:r>
          </a:p>
        </p:txBody>
      </p:sp>
      <p:sp>
        <p:nvSpPr>
          <p:cNvPr id="26" name="TextBox 25"/>
          <p:cNvSpPr txBox="1"/>
          <p:nvPr/>
        </p:nvSpPr>
        <p:spPr>
          <a:xfrm>
            <a:off x="841248" y="4279392"/>
            <a:ext cx="5102352" cy="1581911"/>
          </a:xfrm>
          <a:prstGeom prst="rect">
            <a:avLst/>
          </a:prstGeom>
          <a:noFill/>
        </p:spPr>
        <p:txBody>
          <a:bodyPr wrap="square">
            <a:spAutoFit/>
          </a:bodyPr>
          <a:lstStyle/>
          <a:p>
            <a:pPr algn="l"/>
            <a:r>
              <a:rPr sz="1200" b="0" i="0">
                <a:solidFill>
                  <a:srgbClr val="0F172A"/>
                </a:solidFill>
                <a:latin typeface="Calibri"/>
              </a:rPr>
              <a:t>A trust failure: any output that a user reasonably acts upon, but which is not traceable to a verifiable source, regardless of whether the underlying fact happens to be correct.</a:t>
            </a:r>
          </a:p>
        </p:txBody>
      </p:sp>
      <p:sp>
        <p:nvSpPr>
          <p:cNvPr id="27" name="TextBox 26"/>
          <p:cNvSpPr txBox="1"/>
          <p:nvPr/>
        </p:nvSpPr>
        <p:spPr>
          <a:xfrm>
            <a:off x="841248" y="5806440"/>
            <a:ext cx="5102352" cy="228600"/>
          </a:xfrm>
          <a:prstGeom prst="rect">
            <a:avLst/>
          </a:prstGeom>
          <a:noFill/>
        </p:spPr>
        <p:txBody>
          <a:bodyPr wrap="square">
            <a:spAutoFit/>
          </a:bodyPr>
          <a:lstStyle/>
          <a:p>
            <a:pPr algn="l"/>
            <a:r>
              <a:rPr sz="1100" b="0" i="1">
                <a:solidFill>
                  <a:srgbClr val="64748B"/>
                </a:solidFill>
                <a:latin typeface="Calibri"/>
              </a:rPr>
              <a:t>Public health implementer lens</a:t>
            </a:r>
          </a:p>
        </p:txBody>
      </p:sp>
      <p:sp>
        <p:nvSpPr>
          <p:cNvPr id="28" name="Rectangle 27"/>
          <p:cNvSpPr/>
          <p:nvPr/>
        </p:nvSpPr>
        <p:spPr>
          <a:xfrm>
            <a:off x="626364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187952"/>
            <a:ext cx="64008" cy="187451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73368" y="4297680"/>
            <a:ext cx="292608"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3368" y="4297680"/>
            <a:ext cx="292608" cy="292608"/>
          </a:xfrm>
          <a:prstGeom prst="rect">
            <a:avLst/>
          </a:prstGeom>
          <a:noFill/>
        </p:spPr>
        <p:txBody>
          <a:bodyPr wrap="square" anchor="ctr"/>
          <a:lstStyle/>
          <a:p>
            <a:pPr algn="ctr"/>
            <a:r>
              <a:rPr sz="1200" b="1" i="0">
                <a:solidFill>
                  <a:srgbClr val="FFFFFF"/>
                </a:solidFill>
                <a:latin typeface="Calibri"/>
              </a:rPr>
              <a:t>D</a:t>
            </a:r>
          </a:p>
        </p:txBody>
      </p:sp>
      <p:sp>
        <p:nvSpPr>
          <p:cNvPr id="32" name="TextBox 31"/>
          <p:cNvSpPr txBox="1"/>
          <p:nvPr/>
        </p:nvSpPr>
        <p:spPr>
          <a:xfrm>
            <a:off x="6739127" y="4279392"/>
            <a:ext cx="5102352" cy="1581911"/>
          </a:xfrm>
          <a:prstGeom prst="rect">
            <a:avLst/>
          </a:prstGeom>
          <a:noFill/>
        </p:spPr>
        <p:txBody>
          <a:bodyPr wrap="square">
            <a:spAutoFit/>
          </a:bodyPr>
          <a:lstStyle/>
          <a:p>
            <a:pPr algn="l"/>
            <a:r>
              <a:rPr sz="1200" b="0" i="0">
                <a:solidFill>
                  <a:srgbClr val="0F172A"/>
                </a:solidFill>
                <a:latin typeface="Calibri"/>
              </a:rPr>
              <a:t>An output from a generative model that is factually incorrect, fabricated, or unsupported by its training data, produced with a tone of confidence indistinguishable from a correct answer.</a:t>
            </a:r>
          </a:p>
        </p:txBody>
      </p:sp>
      <p:sp>
        <p:nvSpPr>
          <p:cNvPr id="33" name="TextBox 32"/>
          <p:cNvSpPr txBox="1"/>
          <p:nvPr/>
        </p:nvSpPr>
        <p:spPr>
          <a:xfrm>
            <a:off x="6739127" y="5806440"/>
            <a:ext cx="5102352" cy="228600"/>
          </a:xfrm>
          <a:prstGeom prst="rect">
            <a:avLst/>
          </a:prstGeom>
          <a:noFill/>
        </p:spPr>
        <p:txBody>
          <a:bodyPr wrap="square">
            <a:spAutoFit/>
          </a:bodyPr>
          <a:lstStyle/>
          <a:p>
            <a:pPr algn="l"/>
            <a:r>
              <a:rPr sz="1100" b="0" i="1">
                <a:solidFill>
                  <a:srgbClr val="64748B"/>
                </a:solidFill>
                <a:latin typeface="Calibri"/>
              </a:rPr>
              <a:t>ML / technical lens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HALLUCINATIONS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Exercises 2 &amp; 3 — Scenario and Lightning Vote</a:t>
            </a:r>
          </a:p>
        </p:txBody>
      </p:sp>
      <p:sp>
        <p:nvSpPr>
          <p:cNvPr id="6" name="Rectangle 5"/>
          <p:cNvSpPr/>
          <p:nvPr/>
        </p:nvSpPr>
        <p:spPr>
          <a:xfrm>
            <a:off x="365760" y="960120"/>
            <a:ext cx="54864" cy="4937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60120"/>
            <a:ext cx="5303520" cy="292608"/>
          </a:xfrm>
          <a:prstGeom prst="rect">
            <a:avLst/>
          </a:prstGeom>
          <a:noFill/>
        </p:spPr>
        <p:txBody>
          <a:bodyPr wrap="square">
            <a:spAutoFit/>
          </a:bodyPr>
          <a:lstStyle/>
          <a:p>
            <a:pPr algn="l"/>
            <a:r>
              <a:rPr sz="1100" b="1" i="0">
                <a:solidFill>
                  <a:srgbClr val="2563EB"/>
                </a:solidFill>
                <a:latin typeface="Calibri"/>
              </a:rPr>
              <a:t>EXERCISE 2 — SCENARIO</a:t>
            </a:r>
          </a:p>
        </p:txBody>
      </p:sp>
      <p:sp>
        <p:nvSpPr>
          <p:cNvPr id="8" name="Rectangle 7"/>
          <p:cNvSpPr/>
          <p:nvPr/>
        </p:nvSpPr>
        <p:spPr>
          <a:xfrm>
            <a:off x="365760" y="1316736"/>
            <a:ext cx="5486400" cy="201168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16736"/>
            <a:ext cx="54864" cy="201168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26464"/>
            <a:ext cx="53035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11" name="TextBox 10"/>
          <p:cNvSpPr txBox="1"/>
          <p:nvPr/>
        </p:nvSpPr>
        <p:spPr>
          <a:xfrm>
            <a:off x="502920" y="1664207"/>
            <a:ext cx="5303520" cy="1572768"/>
          </a:xfrm>
          <a:prstGeom prst="rect">
            <a:avLst/>
          </a:prstGeom>
          <a:noFill/>
        </p:spPr>
        <p:txBody>
          <a:bodyPr wrap="square">
            <a:spAutoFit/>
          </a:bodyPr>
          <a:lstStyle/>
          <a:p>
            <a:pPr algn="l"/>
            <a:r>
              <a:rPr sz="1200" b="0" i="0">
                <a:solidFill>
                  <a:srgbClr val="FFFFFF"/>
                </a:solidFill>
                <a:latin typeface="Calibri"/>
              </a:rPr>
              <a:t>A generative AI chatbot is being piloted with Community Health Workers to support quick clinical guidance during home visits. During the pilot, an evaluator finds that for roughly 3% of queries the chatbot gives an answer that contradicts the national clinical guideline. In roughly 1% of queries it contradicts WHO guidance. In all of these cases the answer is presented with the same confidence as the correct answers. The program team is debating whether to continue scaling the pilot.</a:t>
            </a:r>
          </a:p>
        </p:txBody>
      </p:sp>
      <p:sp>
        <p:nvSpPr>
          <p:cNvPr id="12" name="TextBox 11"/>
          <p:cNvSpPr txBox="1"/>
          <p:nvPr/>
        </p:nvSpPr>
        <p:spPr>
          <a:xfrm>
            <a:off x="365760" y="3401568"/>
            <a:ext cx="5486400" cy="384048"/>
          </a:xfrm>
          <a:prstGeom prst="rect">
            <a:avLst/>
          </a:prstGeom>
          <a:noFill/>
        </p:spPr>
        <p:txBody>
          <a:bodyPr wrap="square">
            <a:spAutoFit/>
          </a:bodyPr>
          <a:lstStyle/>
          <a:p>
            <a:pPr algn="l"/>
            <a:r>
              <a:rPr sz="1500" b="1" i="0">
                <a:solidFill>
                  <a:srgbClr val="1A2857"/>
                </a:solidFill>
                <a:latin typeface="Calibri"/>
              </a:rPr>
              <a:t>How should the program team respond?</a:t>
            </a:r>
          </a:p>
        </p:txBody>
      </p:sp>
      <p:sp>
        <p:nvSpPr>
          <p:cNvPr id="13" name="Rectangle 12"/>
          <p:cNvSpPr/>
          <p:nvPr/>
        </p:nvSpPr>
        <p:spPr>
          <a:xfrm>
            <a:off x="365760" y="3858768"/>
            <a:ext cx="54864" cy="5669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3858768"/>
            <a:ext cx="256032" cy="566928"/>
          </a:xfrm>
          <a:prstGeom prst="rect">
            <a:avLst/>
          </a:prstGeom>
          <a:noFill/>
        </p:spPr>
        <p:txBody>
          <a:bodyPr wrap="square" anchor="ctr"/>
          <a:lstStyle/>
          <a:p>
            <a:pPr algn="l"/>
            <a:r>
              <a:rPr sz="1300" b="1" i="0">
                <a:solidFill>
                  <a:srgbClr val="2563EB"/>
                </a:solidFill>
                <a:latin typeface="Calibri"/>
              </a:rPr>
              <a:t>A</a:t>
            </a:r>
          </a:p>
        </p:txBody>
      </p:sp>
      <p:sp>
        <p:nvSpPr>
          <p:cNvPr id="15" name="TextBox 14"/>
          <p:cNvSpPr txBox="1"/>
          <p:nvPr/>
        </p:nvSpPr>
        <p:spPr>
          <a:xfrm>
            <a:off x="768096" y="3858768"/>
            <a:ext cx="5029200" cy="566928"/>
          </a:xfrm>
          <a:prstGeom prst="rect">
            <a:avLst/>
          </a:prstGeom>
          <a:noFill/>
        </p:spPr>
        <p:txBody>
          <a:bodyPr wrap="square" anchor="ctr"/>
          <a:lstStyle/>
          <a:p>
            <a:pPr algn="l"/>
            <a:r>
              <a:rPr sz="1300" b="0" i="0">
                <a:solidFill>
                  <a:srgbClr val="0F172A"/>
                </a:solidFill>
                <a:latin typeface="Calibri"/>
              </a:rPr>
              <a:t>Continue scaling. 96% guideline-aligned is better than what can be achieved without the tool.</a:t>
            </a:r>
          </a:p>
        </p:txBody>
      </p:sp>
      <p:sp>
        <p:nvSpPr>
          <p:cNvPr id="16" name="Rectangle 15"/>
          <p:cNvSpPr/>
          <p:nvPr/>
        </p:nvSpPr>
        <p:spPr>
          <a:xfrm>
            <a:off x="365760" y="4572000"/>
            <a:ext cx="54864"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4572000"/>
            <a:ext cx="256032" cy="566928"/>
          </a:xfrm>
          <a:prstGeom prst="rect">
            <a:avLst/>
          </a:prstGeom>
          <a:noFill/>
        </p:spPr>
        <p:txBody>
          <a:bodyPr wrap="square" anchor="ctr"/>
          <a:lstStyle/>
          <a:p>
            <a:pPr algn="l"/>
            <a:r>
              <a:rPr sz="1300" b="1" i="0">
                <a:solidFill>
                  <a:srgbClr val="7C3AED"/>
                </a:solidFill>
                <a:latin typeface="Calibri"/>
              </a:rPr>
              <a:t>B</a:t>
            </a:r>
          </a:p>
        </p:txBody>
      </p:sp>
      <p:sp>
        <p:nvSpPr>
          <p:cNvPr id="18" name="TextBox 17"/>
          <p:cNvSpPr txBox="1"/>
          <p:nvPr/>
        </p:nvSpPr>
        <p:spPr>
          <a:xfrm>
            <a:off x="768096" y="4572000"/>
            <a:ext cx="5029200" cy="566928"/>
          </a:xfrm>
          <a:prstGeom prst="rect">
            <a:avLst/>
          </a:prstGeom>
          <a:noFill/>
        </p:spPr>
        <p:txBody>
          <a:bodyPr wrap="square" anchor="ctr"/>
          <a:lstStyle/>
          <a:p>
            <a:pPr algn="l"/>
            <a:r>
              <a:rPr sz="1300" b="0" i="0">
                <a:solidFill>
                  <a:srgbClr val="0F172A"/>
                </a:solidFill>
                <a:latin typeface="Calibri"/>
              </a:rPr>
              <a:t>Pause scaling until the rate of guideline-contradicting answers is brought below a defined threshold.</a:t>
            </a:r>
          </a:p>
        </p:txBody>
      </p:sp>
      <p:sp>
        <p:nvSpPr>
          <p:cNvPr id="19" name="Rectangle 18"/>
          <p:cNvSpPr/>
          <p:nvPr/>
        </p:nvSpPr>
        <p:spPr>
          <a:xfrm>
            <a:off x="365760" y="5285231"/>
            <a:ext cx="54864" cy="5669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5285231"/>
            <a:ext cx="256032" cy="566928"/>
          </a:xfrm>
          <a:prstGeom prst="rect">
            <a:avLst/>
          </a:prstGeom>
          <a:noFill/>
        </p:spPr>
        <p:txBody>
          <a:bodyPr wrap="square" anchor="ctr"/>
          <a:lstStyle/>
          <a:p>
            <a:pPr algn="l"/>
            <a:r>
              <a:rPr sz="1300" b="1" i="0">
                <a:solidFill>
                  <a:srgbClr val="059669"/>
                </a:solidFill>
                <a:latin typeface="Calibri"/>
              </a:rPr>
              <a:t>C</a:t>
            </a:r>
          </a:p>
        </p:txBody>
      </p:sp>
      <p:sp>
        <p:nvSpPr>
          <p:cNvPr id="21" name="TextBox 20"/>
          <p:cNvSpPr txBox="1"/>
          <p:nvPr/>
        </p:nvSpPr>
        <p:spPr>
          <a:xfrm>
            <a:off x="768096" y="5285231"/>
            <a:ext cx="5029200" cy="566928"/>
          </a:xfrm>
          <a:prstGeom prst="rect">
            <a:avLst/>
          </a:prstGeom>
          <a:noFill/>
        </p:spPr>
        <p:txBody>
          <a:bodyPr wrap="square" anchor="ctr"/>
          <a:lstStyle/>
          <a:p>
            <a:pPr algn="l"/>
            <a:r>
              <a:rPr sz="1300" b="0" i="0">
                <a:solidFill>
                  <a:srgbClr val="0F172A"/>
                </a:solidFill>
                <a:latin typeface="Calibri"/>
              </a:rPr>
              <a:t>Continue scaling, but with mandatory grounding (RAG against the national guideline) and a visible source citation on every answer.</a:t>
            </a:r>
          </a:p>
        </p:txBody>
      </p:sp>
      <p:sp>
        <p:nvSpPr>
          <p:cNvPr id="22" name="Rectangle 21"/>
          <p:cNvSpPr/>
          <p:nvPr/>
        </p:nvSpPr>
        <p:spPr>
          <a:xfrm>
            <a:off x="365760" y="5998464"/>
            <a:ext cx="54864" cy="5669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5998464"/>
            <a:ext cx="256032" cy="566928"/>
          </a:xfrm>
          <a:prstGeom prst="rect">
            <a:avLst/>
          </a:prstGeom>
          <a:noFill/>
        </p:spPr>
        <p:txBody>
          <a:bodyPr wrap="square" anchor="ctr"/>
          <a:lstStyle/>
          <a:p>
            <a:pPr algn="l"/>
            <a:r>
              <a:rPr sz="1300" b="1" i="0">
                <a:solidFill>
                  <a:srgbClr val="D97706"/>
                </a:solidFill>
                <a:latin typeface="Calibri"/>
              </a:rPr>
              <a:t>D</a:t>
            </a:r>
          </a:p>
        </p:txBody>
      </p:sp>
      <p:sp>
        <p:nvSpPr>
          <p:cNvPr id="24" name="TextBox 23"/>
          <p:cNvSpPr txBox="1"/>
          <p:nvPr/>
        </p:nvSpPr>
        <p:spPr>
          <a:xfrm>
            <a:off x="768096" y="5998464"/>
            <a:ext cx="5029200" cy="566928"/>
          </a:xfrm>
          <a:prstGeom prst="rect">
            <a:avLst/>
          </a:prstGeom>
          <a:noFill/>
        </p:spPr>
        <p:txBody>
          <a:bodyPr wrap="square" anchor="ctr"/>
          <a:lstStyle/>
          <a:p>
            <a:pPr algn="l"/>
            <a:r>
              <a:rPr sz="1300" b="0" i="0">
                <a:solidFill>
                  <a:srgbClr val="0F172A"/>
                </a:solidFill>
                <a:latin typeface="Calibri"/>
              </a:rPr>
              <a:t>Reframe the tool as a search aid that surfaces sources, not as a question-answering tool.</a:t>
            </a:r>
          </a:p>
        </p:txBody>
      </p:sp>
      <p:sp>
        <p:nvSpPr>
          <p:cNvPr id="25" name="Rectangle 24"/>
          <p:cNvSpPr/>
          <p:nvPr/>
        </p:nvSpPr>
        <p:spPr>
          <a:xfrm>
            <a:off x="6126480" y="960120"/>
            <a:ext cx="36576" cy="5394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960120"/>
            <a:ext cx="54864" cy="4937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960120"/>
            <a:ext cx="5303520" cy="292608"/>
          </a:xfrm>
          <a:prstGeom prst="rect">
            <a:avLst/>
          </a:prstGeom>
          <a:noFill/>
        </p:spPr>
        <p:txBody>
          <a:bodyPr wrap="square">
            <a:spAutoFit/>
          </a:bodyPr>
          <a:lstStyle/>
          <a:p>
            <a:pPr algn="l"/>
            <a:r>
              <a:rPr sz="1100" b="1" i="0">
                <a:solidFill>
                  <a:srgbClr val="D97706"/>
                </a:solidFill>
                <a:latin typeface="Calibri"/>
              </a:rPr>
              <a:t>EXERCISE 3 — LIGHTNING VOTE</a:t>
            </a:r>
          </a:p>
        </p:txBody>
      </p:sp>
      <p:sp>
        <p:nvSpPr>
          <p:cNvPr id="28" name="TextBox 27"/>
          <p:cNvSpPr txBox="1"/>
          <p:nvPr/>
        </p:nvSpPr>
        <p:spPr>
          <a:xfrm>
            <a:off x="6263640" y="1316736"/>
            <a:ext cx="5532120" cy="914400"/>
          </a:xfrm>
          <a:prstGeom prst="rect">
            <a:avLst/>
          </a:prstGeom>
          <a:noFill/>
        </p:spPr>
        <p:txBody>
          <a:bodyPr wrap="square">
            <a:spAutoFit/>
          </a:bodyPr>
          <a:lstStyle/>
          <a:p>
            <a:pPr algn="l"/>
            <a:r>
              <a:rPr sz="1600" b="1" i="0">
                <a:solidFill>
                  <a:srgbClr val="1A2857"/>
                </a:solidFill>
                <a:latin typeface="Calibri"/>
              </a:rPr>
              <a:t>For a Generative AI tool used by Community Health Workers, the most useful mitigation against hallucinations is:</a:t>
            </a:r>
          </a:p>
        </p:txBody>
      </p:sp>
      <p:sp>
        <p:nvSpPr>
          <p:cNvPr id="29" name="Rectangle 28"/>
          <p:cNvSpPr/>
          <p:nvPr/>
        </p:nvSpPr>
        <p:spPr>
          <a:xfrm>
            <a:off x="6263640"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3640" y="2359152"/>
            <a:ext cx="256032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2487168"/>
            <a:ext cx="2560320" cy="502920"/>
          </a:xfrm>
          <a:prstGeom prst="rect">
            <a:avLst/>
          </a:prstGeom>
          <a:noFill/>
        </p:spPr>
        <p:txBody>
          <a:bodyPr wrap="square">
            <a:spAutoFit/>
          </a:bodyPr>
          <a:lstStyle/>
          <a:p>
            <a:pPr algn="ctr"/>
            <a:r>
              <a:rPr sz="2600" b="1" i="0">
                <a:solidFill>
                  <a:srgbClr val="2563EB"/>
                </a:solidFill>
                <a:latin typeface="Calibri"/>
              </a:rPr>
              <a:t>A</a:t>
            </a:r>
          </a:p>
        </p:txBody>
      </p:sp>
      <p:sp>
        <p:nvSpPr>
          <p:cNvPr id="32" name="TextBox 31"/>
          <p:cNvSpPr txBox="1"/>
          <p:nvPr/>
        </p:nvSpPr>
        <p:spPr>
          <a:xfrm>
            <a:off x="6373368" y="3017520"/>
            <a:ext cx="2340863" cy="1371600"/>
          </a:xfrm>
          <a:prstGeom prst="rect">
            <a:avLst/>
          </a:prstGeom>
          <a:noFill/>
        </p:spPr>
        <p:txBody>
          <a:bodyPr wrap="square">
            <a:spAutoFit/>
          </a:bodyPr>
          <a:lstStyle/>
          <a:p>
            <a:pPr algn="ctr"/>
            <a:r>
              <a:rPr sz="1400" b="0" i="0">
                <a:solidFill>
                  <a:srgbClr val="0F172A"/>
                </a:solidFill>
                <a:latin typeface="Calibri"/>
              </a:rPr>
              <a:t>Better models (fewer hallucinations at the model level)</a:t>
            </a:r>
          </a:p>
        </p:txBody>
      </p:sp>
      <p:sp>
        <p:nvSpPr>
          <p:cNvPr id="33" name="Rectangle 32"/>
          <p:cNvSpPr/>
          <p:nvPr/>
        </p:nvSpPr>
        <p:spPr>
          <a:xfrm>
            <a:off x="9052559"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52559" y="2359152"/>
            <a:ext cx="256032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52559" y="2487168"/>
            <a:ext cx="2560320" cy="502920"/>
          </a:xfrm>
          <a:prstGeom prst="rect">
            <a:avLst/>
          </a:prstGeom>
          <a:noFill/>
        </p:spPr>
        <p:txBody>
          <a:bodyPr wrap="square">
            <a:spAutoFit/>
          </a:bodyPr>
          <a:lstStyle/>
          <a:p>
            <a:pPr algn="ctr"/>
            <a:r>
              <a:rPr sz="2600" b="1" i="0">
                <a:solidFill>
                  <a:srgbClr val="7C3AED"/>
                </a:solidFill>
                <a:latin typeface="Calibri"/>
              </a:rPr>
              <a:t>B</a:t>
            </a:r>
          </a:p>
        </p:txBody>
      </p:sp>
      <p:sp>
        <p:nvSpPr>
          <p:cNvPr id="36" name="TextBox 35"/>
          <p:cNvSpPr txBox="1"/>
          <p:nvPr/>
        </p:nvSpPr>
        <p:spPr>
          <a:xfrm>
            <a:off x="9162287" y="3017520"/>
            <a:ext cx="2340863" cy="1371600"/>
          </a:xfrm>
          <a:prstGeom prst="rect">
            <a:avLst/>
          </a:prstGeom>
          <a:noFill/>
        </p:spPr>
        <p:txBody>
          <a:bodyPr wrap="square">
            <a:spAutoFit/>
          </a:bodyPr>
          <a:lstStyle/>
          <a:p>
            <a:pPr algn="ctr"/>
            <a:r>
              <a:rPr sz="1400" b="0" i="0">
                <a:solidFill>
                  <a:srgbClr val="0F172A"/>
                </a:solidFill>
                <a:latin typeface="Calibri"/>
              </a:rPr>
              <a:t>Better grounding (answers tied to a verifiable source that can be checked)</a:t>
            </a:r>
          </a:p>
        </p:txBody>
      </p:sp>
      <p:sp>
        <p:nvSpPr>
          <p:cNvPr id="37" name="Rectangle 36"/>
          <p:cNvSpPr/>
          <p:nvPr/>
        </p:nvSpPr>
        <p:spPr>
          <a:xfrm>
            <a:off x="6263640" y="4983480"/>
            <a:ext cx="553212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63640" y="4983480"/>
            <a:ext cx="54864" cy="16002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5029200"/>
            <a:ext cx="5212080" cy="292608"/>
          </a:xfrm>
          <a:prstGeom prst="rect">
            <a:avLst/>
          </a:prstGeom>
          <a:noFill/>
        </p:spPr>
        <p:txBody>
          <a:bodyPr wrap="square">
            <a:spAutoFit/>
          </a:bodyPr>
          <a:lstStyle/>
          <a:p>
            <a:pPr algn="l"/>
            <a:r>
              <a:rPr sz="1000" b="1" i="0">
                <a:solidFill>
                  <a:srgbClr val="1A2857"/>
                </a:solidFill>
                <a:latin typeface="Calibri"/>
              </a:rPr>
              <a:t>DISCUSSION PROMPTS FOR PANELISTS</a:t>
            </a:r>
          </a:p>
        </p:txBody>
      </p:sp>
      <p:sp>
        <p:nvSpPr>
          <p:cNvPr id="40" name="TextBox 39"/>
          <p:cNvSpPr txBox="1"/>
          <p:nvPr/>
        </p:nvSpPr>
        <p:spPr>
          <a:xfrm>
            <a:off x="6446520" y="5367528"/>
            <a:ext cx="5212080" cy="365760"/>
          </a:xfrm>
          <a:prstGeom prst="rect">
            <a:avLst/>
          </a:prstGeom>
          <a:noFill/>
        </p:spPr>
        <p:txBody>
          <a:bodyPr wrap="square">
            <a:spAutoFit/>
          </a:bodyPr>
          <a:lstStyle/>
          <a:p>
            <a:pPr algn="l"/>
            <a:r>
              <a:rPr sz="1100" b="0" i="0">
                <a:solidFill>
                  <a:srgbClr val="64748B"/>
                </a:solidFill>
                <a:latin typeface="Calibri"/>
              </a:rPr>
              <a:t>• Where does responsibility sit when a CHW acts on a hallucinated answer? The CHW, the implementing partner, the vendor, o…</a:t>
            </a:r>
          </a:p>
        </p:txBody>
      </p:sp>
      <p:sp>
        <p:nvSpPr>
          <p:cNvPr id="41" name="TextBox 40"/>
          <p:cNvSpPr txBox="1"/>
          <p:nvPr/>
        </p:nvSpPr>
        <p:spPr>
          <a:xfrm>
            <a:off x="6446520" y="5769864"/>
            <a:ext cx="5212080" cy="365760"/>
          </a:xfrm>
          <a:prstGeom prst="rect">
            <a:avLst/>
          </a:prstGeom>
          <a:noFill/>
        </p:spPr>
        <p:txBody>
          <a:bodyPr wrap="square">
            <a:spAutoFit/>
          </a:bodyPr>
          <a:lstStyle/>
          <a:p>
            <a:pPr algn="l"/>
            <a:r>
              <a:rPr sz="1100" b="0" i="0">
                <a:solidFill>
                  <a:srgbClr val="64748B"/>
                </a:solidFill>
                <a:latin typeface="Calibri"/>
              </a:rPr>
              <a:t>• Is "hallucination rate" even the right metric, or does it hide more than it reveals (severity, equity of error distribut…</a:t>
            </a:r>
          </a:p>
        </p:txBody>
      </p:sp>
      <p:sp>
        <p:nvSpPr>
          <p:cNvPr id="42" name="TextBox 41"/>
          <p:cNvSpPr txBox="1"/>
          <p:nvPr/>
        </p:nvSpPr>
        <p:spPr>
          <a:xfrm>
            <a:off x="6446520" y="6172200"/>
            <a:ext cx="5212080" cy="365760"/>
          </a:xfrm>
          <a:prstGeom prst="rect">
            <a:avLst/>
          </a:prstGeom>
          <a:noFill/>
        </p:spPr>
        <p:txBody>
          <a:bodyPr wrap="square">
            <a:spAutoFit/>
          </a:bodyPr>
          <a:lstStyle/>
          <a:p>
            <a:pPr algn="l"/>
            <a:r>
              <a:rPr sz="1100" b="0" i="0">
                <a:solidFill>
                  <a:srgbClr val="64748B"/>
                </a:solidFill>
                <a:latin typeface="Calibri"/>
              </a:rPr>
              <a:t>• Are we asking generative AI to clear a bar that we never asked older job-aids or printed protocols to clear? What's the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38404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384048"/>
          </a:xfrm>
          <a:prstGeom prst="rect">
            <a:avLst/>
          </a:prstGeom>
          <a:noFill/>
        </p:spPr>
        <p:txBody>
          <a:bodyPr wrap="square" anchor="ctr"/>
          <a:lstStyle/>
          <a:p>
            <a:pPr algn="ctr"/>
            <a:r>
              <a:rPr sz="10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874519"/>
            <a:ext cx="7772400" cy="1280160"/>
          </a:xfrm>
          <a:prstGeom prst="rect">
            <a:avLst/>
          </a:prstGeom>
          <a:noFill/>
        </p:spPr>
        <p:txBody>
          <a:bodyPr wrap="square">
            <a:spAutoFit/>
          </a:bodyPr>
          <a:lstStyle/>
          <a:p>
            <a:pPr algn="l"/>
            <a:r>
              <a:rPr sz="4400" b="1" i="0">
                <a:solidFill>
                  <a:srgbClr val="FFFFFF"/>
                </a:solidFill>
                <a:latin typeface="Calibri"/>
              </a:rPr>
              <a:t>Bias</a:t>
            </a:r>
          </a:p>
        </p:txBody>
      </p:sp>
      <p:sp>
        <p:nvSpPr>
          <p:cNvPr id="7" name="TextBox 6"/>
          <p:cNvSpPr txBox="1"/>
          <p:nvPr/>
        </p:nvSpPr>
        <p:spPr>
          <a:xfrm>
            <a:off x="685800" y="3246120"/>
            <a:ext cx="7498079" cy="1188720"/>
          </a:xfrm>
          <a:prstGeom prst="rect">
            <a:avLst/>
          </a:prstGeom>
          <a:noFill/>
        </p:spPr>
        <p:txBody>
          <a:bodyPr wrap="square">
            <a:spAutoFit/>
          </a:bodyPr>
          <a:lstStyle/>
          <a:p>
            <a:pPr algn="l"/>
            <a:r>
              <a:rPr sz="1500" b="0" i="1">
                <a:solidFill>
                  <a:srgbClr val="AABBD6"/>
                </a:solidFill>
                <a:latin typeface="Calibri"/>
              </a:rPr>
              <a:t>Systematic patterns in AI outputs that affect some populations differently from others, often along lines of geography, language, income, or demographic group.</a:t>
            </a:r>
          </a:p>
        </p:txBody>
      </p:sp>
      <p:sp>
        <p:nvSpPr>
          <p:cNvPr id="8" name="TextBox 7"/>
          <p:cNvSpPr txBox="1"/>
          <p:nvPr/>
        </p:nvSpPr>
        <p:spPr>
          <a:xfrm>
            <a:off x="685800" y="4572000"/>
            <a:ext cx="10515600" cy="914400"/>
          </a:xfrm>
          <a:prstGeom prst="rect">
            <a:avLst/>
          </a:prstGeom>
          <a:noFill/>
        </p:spPr>
        <p:txBody>
          <a:bodyPr wrap="square">
            <a:spAutoFit/>
          </a:bodyPr>
          <a:lstStyle/>
          <a:p>
            <a:pPr algn="l"/>
            <a:r>
              <a:rPr sz="1500" b="1" i="1">
                <a:solidFill>
                  <a:srgbClr val="F5C000"/>
                </a:solidFill>
                <a:latin typeface="Calibri"/>
              </a:rPr>
              <a:t>Key question: "Is this a model problem or a data system problem, and does the answer change what we do about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BIAS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 1 — How Do You Define It?</a:t>
            </a:r>
          </a:p>
        </p:txBody>
      </p:sp>
      <p:sp>
        <p:nvSpPr>
          <p:cNvPr id="6" name="Rectangle 5"/>
          <p:cNvSpPr/>
          <p:nvPr/>
        </p:nvSpPr>
        <p:spPr>
          <a:xfrm>
            <a:off x="365760" y="960120"/>
            <a:ext cx="11430000" cy="713232"/>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713232"/>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621792"/>
          </a:xfrm>
          <a:prstGeom prst="rect">
            <a:avLst/>
          </a:prstGeom>
          <a:noFill/>
        </p:spPr>
        <p:txBody>
          <a:bodyPr wrap="square">
            <a:spAutoFit/>
          </a:bodyPr>
          <a:lstStyle/>
          <a:p>
            <a:pPr algn="l"/>
            <a:r>
              <a:rPr sz="1300" b="0" i="1">
                <a:solidFill>
                  <a:srgbClr val="1A2857"/>
                </a:solidFill>
                <a:latin typeface="Calibri"/>
              </a:rPr>
              <a:t>Systematic patterns in AI outputs that affect some populations differently from others, often along lines of geography, language, income, or demographic group.</a:t>
            </a:r>
          </a:p>
        </p:txBody>
      </p:sp>
      <p:sp>
        <p:nvSpPr>
          <p:cNvPr id="9" name="TextBox 8"/>
          <p:cNvSpPr txBox="1"/>
          <p:nvPr/>
        </p:nvSpPr>
        <p:spPr>
          <a:xfrm>
            <a:off x="365760" y="1773936"/>
            <a:ext cx="11430000" cy="347472"/>
          </a:xfrm>
          <a:prstGeom prst="rect">
            <a:avLst/>
          </a:prstGeom>
          <a:noFill/>
        </p:spPr>
        <p:txBody>
          <a:bodyPr wrap="square">
            <a:spAutoFit/>
          </a:bodyPr>
          <a:lstStyle/>
          <a:p>
            <a:pPr algn="l"/>
            <a:r>
              <a:rPr sz="1300" b="0" i="0">
                <a:solidFill>
                  <a:srgbClr val="64748B"/>
                </a:solidFill>
                <a:latin typeface="Calibri"/>
              </a:rPr>
              <a:t>Four framings of Bias / Fairness in AI for health. Select the one closest to how YOU understand the term.</a:t>
            </a:r>
          </a:p>
        </p:txBody>
      </p:sp>
      <p:sp>
        <p:nvSpPr>
          <p:cNvPr id="10" name="Rectangle 9"/>
          <p:cNvSpPr/>
          <p:nvPr/>
        </p:nvSpPr>
        <p:spPr>
          <a:xfrm>
            <a:off x="36576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121408"/>
            <a:ext cx="64008" cy="187451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 y="2231136"/>
            <a:ext cx="29260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231136"/>
            <a:ext cx="292608" cy="292608"/>
          </a:xfrm>
          <a:prstGeom prst="rect">
            <a:avLst/>
          </a:prstGeom>
          <a:noFill/>
        </p:spPr>
        <p:txBody>
          <a:bodyPr wrap="square" anchor="ctr"/>
          <a:lstStyle/>
          <a:p>
            <a:pPr algn="ctr"/>
            <a:r>
              <a:rPr sz="1200" b="1" i="0">
                <a:solidFill>
                  <a:srgbClr val="FFFFFF"/>
                </a:solidFill>
                <a:latin typeface="Calibri"/>
              </a:rPr>
              <a:t>A</a:t>
            </a:r>
          </a:p>
        </p:txBody>
      </p:sp>
      <p:sp>
        <p:nvSpPr>
          <p:cNvPr id="14" name="TextBox 13"/>
          <p:cNvSpPr txBox="1"/>
          <p:nvPr/>
        </p:nvSpPr>
        <p:spPr>
          <a:xfrm>
            <a:off x="841248" y="2212848"/>
            <a:ext cx="5102352" cy="1581911"/>
          </a:xfrm>
          <a:prstGeom prst="rect">
            <a:avLst/>
          </a:prstGeom>
          <a:noFill/>
        </p:spPr>
        <p:txBody>
          <a:bodyPr wrap="square">
            <a:spAutoFit/>
          </a:bodyPr>
          <a:lstStyle/>
          <a:p>
            <a:pPr algn="l"/>
            <a:r>
              <a:rPr sz="1200" b="0" i="0">
                <a:solidFill>
                  <a:srgbClr val="0F172A"/>
                </a:solidFill>
                <a:latin typeface="Calibri"/>
              </a:rPr>
              <a:t>A statistical property of a model: systematic deviation between predictions and ground truth, typically measured by performance differences across demographic subgroups.</a:t>
            </a:r>
          </a:p>
        </p:txBody>
      </p:sp>
      <p:sp>
        <p:nvSpPr>
          <p:cNvPr id="15" name="TextBox 14"/>
          <p:cNvSpPr txBox="1"/>
          <p:nvPr/>
        </p:nvSpPr>
        <p:spPr>
          <a:xfrm>
            <a:off x="841248" y="3739895"/>
            <a:ext cx="5102352" cy="228600"/>
          </a:xfrm>
          <a:prstGeom prst="rect">
            <a:avLst/>
          </a:prstGeom>
          <a:noFill/>
        </p:spPr>
        <p:txBody>
          <a:bodyPr wrap="square">
            <a:spAutoFit/>
          </a:bodyPr>
          <a:lstStyle/>
          <a:p>
            <a:pPr algn="l"/>
            <a:r>
              <a:rPr sz="1100" b="0" i="1">
                <a:solidFill>
                  <a:srgbClr val="64748B"/>
                </a:solidFill>
                <a:latin typeface="Calibri"/>
              </a:rPr>
              <a:t>ML / technical lens</a:t>
            </a:r>
          </a:p>
        </p:txBody>
      </p:sp>
      <p:sp>
        <p:nvSpPr>
          <p:cNvPr id="16" name="Rectangle 15"/>
          <p:cNvSpPr/>
          <p:nvPr/>
        </p:nvSpPr>
        <p:spPr>
          <a:xfrm>
            <a:off x="626364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121408"/>
            <a:ext cx="64008" cy="187451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73368" y="2231136"/>
            <a:ext cx="292608"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2231136"/>
            <a:ext cx="292608" cy="292608"/>
          </a:xfrm>
          <a:prstGeom prst="rect">
            <a:avLst/>
          </a:prstGeom>
          <a:noFill/>
        </p:spPr>
        <p:txBody>
          <a:bodyPr wrap="square" anchor="ctr"/>
          <a:lstStyle/>
          <a:p>
            <a:pPr algn="ctr"/>
            <a:r>
              <a:rPr sz="1200" b="1" i="0">
                <a:solidFill>
                  <a:srgbClr val="FFFFFF"/>
                </a:solidFill>
                <a:latin typeface="Calibri"/>
              </a:rPr>
              <a:t>B</a:t>
            </a:r>
          </a:p>
        </p:txBody>
      </p:sp>
      <p:sp>
        <p:nvSpPr>
          <p:cNvPr id="20" name="TextBox 19"/>
          <p:cNvSpPr txBox="1"/>
          <p:nvPr/>
        </p:nvSpPr>
        <p:spPr>
          <a:xfrm>
            <a:off x="6739127" y="2212848"/>
            <a:ext cx="5102352" cy="1581911"/>
          </a:xfrm>
          <a:prstGeom prst="rect">
            <a:avLst/>
          </a:prstGeom>
          <a:noFill/>
        </p:spPr>
        <p:txBody>
          <a:bodyPr wrap="square">
            <a:spAutoFit/>
          </a:bodyPr>
          <a:lstStyle/>
          <a:p>
            <a:pPr algn="l"/>
            <a:r>
              <a:rPr sz="1200" b="0" i="0">
                <a:solidFill>
                  <a:srgbClr val="0F172A"/>
                </a:solidFill>
                <a:latin typeface="Calibri"/>
              </a:rPr>
              <a:t>A training data problem: when the data used to build a model under-represents certain populations, the model's performance on those populations will be poorer.</a:t>
            </a:r>
          </a:p>
        </p:txBody>
      </p:sp>
      <p:sp>
        <p:nvSpPr>
          <p:cNvPr id="21" name="TextBox 20"/>
          <p:cNvSpPr txBox="1"/>
          <p:nvPr/>
        </p:nvSpPr>
        <p:spPr>
          <a:xfrm>
            <a:off x="6739127" y="3739895"/>
            <a:ext cx="5102352" cy="228600"/>
          </a:xfrm>
          <a:prstGeom prst="rect">
            <a:avLst/>
          </a:prstGeom>
          <a:noFill/>
        </p:spPr>
        <p:txBody>
          <a:bodyPr wrap="square">
            <a:spAutoFit/>
          </a:bodyPr>
          <a:lstStyle/>
          <a:p>
            <a:pPr algn="l"/>
            <a:r>
              <a:rPr sz="1100" b="0" i="1">
                <a:solidFill>
                  <a:srgbClr val="64748B"/>
                </a:solidFill>
                <a:latin typeface="Calibri"/>
              </a:rPr>
              <a:t>Data science lens</a:t>
            </a:r>
          </a:p>
        </p:txBody>
      </p:sp>
      <p:sp>
        <p:nvSpPr>
          <p:cNvPr id="22" name="Rectangle 21"/>
          <p:cNvSpPr/>
          <p:nvPr/>
        </p:nvSpPr>
        <p:spPr>
          <a:xfrm>
            <a:off x="36576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187952"/>
            <a:ext cx="64008" cy="187451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 y="4297680"/>
            <a:ext cx="292608"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297680"/>
            <a:ext cx="292608" cy="292608"/>
          </a:xfrm>
          <a:prstGeom prst="rect">
            <a:avLst/>
          </a:prstGeom>
          <a:noFill/>
        </p:spPr>
        <p:txBody>
          <a:bodyPr wrap="square" anchor="ctr"/>
          <a:lstStyle/>
          <a:p>
            <a:pPr algn="ctr"/>
            <a:r>
              <a:rPr sz="1200" b="1" i="0">
                <a:solidFill>
                  <a:srgbClr val="FFFFFF"/>
                </a:solidFill>
                <a:latin typeface="Calibri"/>
              </a:rPr>
              <a:t>C</a:t>
            </a:r>
          </a:p>
        </p:txBody>
      </p:sp>
      <p:sp>
        <p:nvSpPr>
          <p:cNvPr id="26" name="TextBox 25"/>
          <p:cNvSpPr txBox="1"/>
          <p:nvPr/>
        </p:nvSpPr>
        <p:spPr>
          <a:xfrm>
            <a:off x="841248" y="4279392"/>
            <a:ext cx="5102352" cy="1581911"/>
          </a:xfrm>
          <a:prstGeom prst="rect">
            <a:avLst/>
          </a:prstGeom>
          <a:noFill/>
        </p:spPr>
        <p:txBody>
          <a:bodyPr wrap="square">
            <a:spAutoFit/>
          </a:bodyPr>
          <a:lstStyle/>
          <a:p>
            <a:pPr algn="l"/>
            <a:r>
              <a:rPr sz="1200" b="0" i="0">
                <a:solidFill>
                  <a:srgbClr val="0F172A"/>
                </a:solidFill>
                <a:latin typeface="Calibri"/>
              </a:rPr>
              <a:t>A system-level problem of who is in the data at all: the populations least visible to digital health systems are the ones most at risk of being further excluded by AI tools built on those systems.</a:t>
            </a:r>
          </a:p>
        </p:txBody>
      </p:sp>
      <p:sp>
        <p:nvSpPr>
          <p:cNvPr id="27" name="TextBox 26"/>
          <p:cNvSpPr txBox="1"/>
          <p:nvPr/>
        </p:nvSpPr>
        <p:spPr>
          <a:xfrm>
            <a:off x="841248" y="5806440"/>
            <a:ext cx="5102352" cy="228600"/>
          </a:xfrm>
          <a:prstGeom prst="rect">
            <a:avLst/>
          </a:prstGeom>
          <a:noFill/>
        </p:spPr>
        <p:txBody>
          <a:bodyPr wrap="square">
            <a:spAutoFit/>
          </a:bodyPr>
          <a:lstStyle/>
          <a:p>
            <a:pPr algn="l"/>
            <a:r>
              <a:rPr sz="1100" b="0" i="1">
                <a:solidFill>
                  <a:srgbClr val="64748B"/>
                </a:solidFill>
                <a:latin typeface="Calibri"/>
              </a:rPr>
              <a:t>Equity / public health lens</a:t>
            </a:r>
          </a:p>
        </p:txBody>
      </p:sp>
      <p:sp>
        <p:nvSpPr>
          <p:cNvPr id="28" name="Rectangle 27"/>
          <p:cNvSpPr/>
          <p:nvPr/>
        </p:nvSpPr>
        <p:spPr>
          <a:xfrm>
            <a:off x="626364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187952"/>
            <a:ext cx="64008" cy="187451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73368" y="4297680"/>
            <a:ext cx="292608"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3368" y="4297680"/>
            <a:ext cx="292608" cy="292608"/>
          </a:xfrm>
          <a:prstGeom prst="rect">
            <a:avLst/>
          </a:prstGeom>
          <a:noFill/>
        </p:spPr>
        <p:txBody>
          <a:bodyPr wrap="square" anchor="ctr"/>
          <a:lstStyle/>
          <a:p>
            <a:pPr algn="ctr"/>
            <a:r>
              <a:rPr sz="1200" b="1" i="0">
                <a:solidFill>
                  <a:srgbClr val="FFFFFF"/>
                </a:solidFill>
                <a:latin typeface="Calibri"/>
              </a:rPr>
              <a:t>D</a:t>
            </a:r>
          </a:p>
        </p:txBody>
      </p:sp>
      <p:sp>
        <p:nvSpPr>
          <p:cNvPr id="32" name="TextBox 31"/>
          <p:cNvSpPr txBox="1"/>
          <p:nvPr/>
        </p:nvSpPr>
        <p:spPr>
          <a:xfrm>
            <a:off x="6739127" y="4279392"/>
            <a:ext cx="5102352" cy="1581911"/>
          </a:xfrm>
          <a:prstGeom prst="rect">
            <a:avLst/>
          </a:prstGeom>
          <a:noFill/>
        </p:spPr>
        <p:txBody>
          <a:bodyPr wrap="square">
            <a:spAutoFit/>
          </a:bodyPr>
          <a:lstStyle/>
          <a:p>
            <a:pPr algn="l"/>
            <a:r>
              <a:rPr sz="1200" b="0" i="0">
                <a:solidFill>
                  <a:srgbClr val="0F172A"/>
                </a:solidFill>
                <a:latin typeface="Calibri"/>
              </a:rPr>
              <a:t>A clinical safety issue: when an AI tool produces systematically different recommendations for patients with similar clinical needs but different demographic profiles, leading to inequitable care.</a:t>
            </a:r>
          </a:p>
        </p:txBody>
      </p:sp>
      <p:sp>
        <p:nvSpPr>
          <p:cNvPr id="33" name="TextBox 32"/>
          <p:cNvSpPr txBox="1"/>
          <p:nvPr/>
        </p:nvSpPr>
        <p:spPr>
          <a:xfrm>
            <a:off x="6739127" y="5806440"/>
            <a:ext cx="5102352" cy="228600"/>
          </a:xfrm>
          <a:prstGeom prst="rect">
            <a:avLst/>
          </a:prstGeom>
          <a:noFill/>
        </p:spPr>
        <p:txBody>
          <a:bodyPr wrap="square">
            <a:spAutoFit/>
          </a:bodyPr>
          <a:lstStyle/>
          <a:p>
            <a:pPr algn="l"/>
            <a:r>
              <a:rPr sz="1100" b="0" i="1">
                <a:solidFill>
                  <a:srgbClr val="64748B"/>
                </a:solidFill>
                <a:latin typeface="Calibri"/>
              </a:rPr>
              <a:t>Clinical / patient-safety lens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BIAS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Exercises 2 &amp; 3 — Scenario and Lightning Vote</a:t>
            </a:r>
          </a:p>
        </p:txBody>
      </p:sp>
      <p:sp>
        <p:nvSpPr>
          <p:cNvPr id="6" name="Rectangle 5"/>
          <p:cNvSpPr/>
          <p:nvPr/>
        </p:nvSpPr>
        <p:spPr>
          <a:xfrm>
            <a:off x="365760" y="960120"/>
            <a:ext cx="54864" cy="4937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60120"/>
            <a:ext cx="5303520" cy="292608"/>
          </a:xfrm>
          <a:prstGeom prst="rect">
            <a:avLst/>
          </a:prstGeom>
          <a:noFill/>
        </p:spPr>
        <p:txBody>
          <a:bodyPr wrap="square">
            <a:spAutoFit/>
          </a:bodyPr>
          <a:lstStyle/>
          <a:p>
            <a:pPr algn="l"/>
            <a:r>
              <a:rPr sz="1100" b="1" i="0">
                <a:solidFill>
                  <a:srgbClr val="2563EB"/>
                </a:solidFill>
                <a:latin typeface="Calibri"/>
              </a:rPr>
              <a:t>EXERCISE 2 — SCENARIO</a:t>
            </a:r>
          </a:p>
        </p:txBody>
      </p:sp>
      <p:sp>
        <p:nvSpPr>
          <p:cNvPr id="8" name="Rectangle 7"/>
          <p:cNvSpPr/>
          <p:nvPr/>
        </p:nvSpPr>
        <p:spPr>
          <a:xfrm>
            <a:off x="365760" y="1316736"/>
            <a:ext cx="5486400" cy="201168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16736"/>
            <a:ext cx="54864" cy="201168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26464"/>
            <a:ext cx="53035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11" name="TextBox 10"/>
          <p:cNvSpPr txBox="1"/>
          <p:nvPr/>
        </p:nvSpPr>
        <p:spPr>
          <a:xfrm>
            <a:off x="502920" y="1664207"/>
            <a:ext cx="5303520" cy="1572768"/>
          </a:xfrm>
          <a:prstGeom prst="rect">
            <a:avLst/>
          </a:prstGeom>
          <a:noFill/>
        </p:spPr>
        <p:txBody>
          <a:bodyPr wrap="square">
            <a:spAutoFit/>
          </a:bodyPr>
          <a:lstStyle/>
          <a:p>
            <a:pPr algn="l"/>
            <a:r>
              <a:rPr sz="1200" b="0" i="0">
                <a:solidFill>
                  <a:srgbClr val="FFFFFF"/>
                </a:solidFill>
                <a:latin typeface="Calibri"/>
              </a:rPr>
              <a:t>A national early-warning system uses AI to flag districts at elevated risk of cholera outbreaks, drawing on routine health facility data, mobile-phone movement patterns, and rainfall data. Six months in, an evaluation finds: the model correctly flagged 9 of 11 outbreaks in urban districts, but missed 4 of 5 outbreaks in nomadic and remote rural areas.</a:t>
            </a:r>
          </a:p>
        </p:txBody>
      </p:sp>
      <p:sp>
        <p:nvSpPr>
          <p:cNvPr id="12" name="TextBox 11"/>
          <p:cNvSpPr txBox="1"/>
          <p:nvPr/>
        </p:nvSpPr>
        <p:spPr>
          <a:xfrm>
            <a:off x="365760" y="3401568"/>
            <a:ext cx="5486400" cy="384048"/>
          </a:xfrm>
          <a:prstGeom prst="rect">
            <a:avLst/>
          </a:prstGeom>
          <a:noFill/>
        </p:spPr>
        <p:txBody>
          <a:bodyPr wrap="square">
            <a:spAutoFit/>
          </a:bodyPr>
          <a:lstStyle/>
          <a:p>
            <a:pPr algn="l"/>
            <a:r>
              <a:rPr sz="1500" b="1" i="0">
                <a:solidFill>
                  <a:srgbClr val="1A2857"/>
                </a:solidFill>
                <a:latin typeface="Calibri"/>
              </a:rPr>
              <a:t>Is this a biased model?</a:t>
            </a:r>
          </a:p>
        </p:txBody>
      </p:sp>
      <p:sp>
        <p:nvSpPr>
          <p:cNvPr id="13" name="Rectangle 12"/>
          <p:cNvSpPr/>
          <p:nvPr/>
        </p:nvSpPr>
        <p:spPr>
          <a:xfrm>
            <a:off x="365760" y="3858768"/>
            <a:ext cx="54864" cy="5669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3858768"/>
            <a:ext cx="256032" cy="566928"/>
          </a:xfrm>
          <a:prstGeom prst="rect">
            <a:avLst/>
          </a:prstGeom>
          <a:noFill/>
        </p:spPr>
        <p:txBody>
          <a:bodyPr wrap="square" anchor="ctr"/>
          <a:lstStyle/>
          <a:p>
            <a:pPr algn="l"/>
            <a:r>
              <a:rPr sz="1300" b="1" i="0">
                <a:solidFill>
                  <a:srgbClr val="2563EB"/>
                </a:solidFill>
                <a:latin typeface="Calibri"/>
              </a:rPr>
              <a:t>A</a:t>
            </a:r>
          </a:p>
        </p:txBody>
      </p:sp>
      <p:sp>
        <p:nvSpPr>
          <p:cNvPr id="15" name="TextBox 14"/>
          <p:cNvSpPr txBox="1"/>
          <p:nvPr/>
        </p:nvSpPr>
        <p:spPr>
          <a:xfrm>
            <a:off x="768096" y="3858768"/>
            <a:ext cx="5029200" cy="566928"/>
          </a:xfrm>
          <a:prstGeom prst="rect">
            <a:avLst/>
          </a:prstGeom>
          <a:noFill/>
        </p:spPr>
        <p:txBody>
          <a:bodyPr wrap="square" anchor="ctr"/>
          <a:lstStyle/>
          <a:p>
            <a:pPr algn="l"/>
            <a:r>
              <a:rPr sz="1300" b="0" i="0">
                <a:solidFill>
                  <a:srgbClr val="0F172A"/>
                </a:solidFill>
                <a:latin typeface="Calibri"/>
              </a:rPr>
              <a:t>Yes. The model performs unequally across populations.</a:t>
            </a:r>
          </a:p>
        </p:txBody>
      </p:sp>
      <p:sp>
        <p:nvSpPr>
          <p:cNvPr id="16" name="Rectangle 15"/>
          <p:cNvSpPr/>
          <p:nvPr/>
        </p:nvSpPr>
        <p:spPr>
          <a:xfrm>
            <a:off x="365760" y="4572000"/>
            <a:ext cx="54864"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4572000"/>
            <a:ext cx="256032" cy="566928"/>
          </a:xfrm>
          <a:prstGeom prst="rect">
            <a:avLst/>
          </a:prstGeom>
          <a:noFill/>
        </p:spPr>
        <p:txBody>
          <a:bodyPr wrap="square" anchor="ctr"/>
          <a:lstStyle/>
          <a:p>
            <a:pPr algn="l"/>
            <a:r>
              <a:rPr sz="1300" b="1" i="0">
                <a:solidFill>
                  <a:srgbClr val="7C3AED"/>
                </a:solidFill>
                <a:latin typeface="Calibri"/>
              </a:rPr>
              <a:t>B</a:t>
            </a:r>
          </a:p>
        </p:txBody>
      </p:sp>
      <p:sp>
        <p:nvSpPr>
          <p:cNvPr id="18" name="TextBox 17"/>
          <p:cNvSpPr txBox="1"/>
          <p:nvPr/>
        </p:nvSpPr>
        <p:spPr>
          <a:xfrm>
            <a:off x="768096" y="4572000"/>
            <a:ext cx="5029200" cy="566928"/>
          </a:xfrm>
          <a:prstGeom prst="rect">
            <a:avLst/>
          </a:prstGeom>
          <a:noFill/>
        </p:spPr>
        <p:txBody>
          <a:bodyPr wrap="square" anchor="ctr"/>
          <a:lstStyle/>
          <a:p>
            <a:pPr algn="l"/>
            <a:r>
              <a:rPr sz="1300" b="0" i="0">
                <a:solidFill>
                  <a:srgbClr val="0F172A"/>
                </a:solidFill>
                <a:latin typeface="Calibri"/>
              </a:rPr>
              <a:t>No. The model is doing the best it can with the data it has. The problem is upstream.</a:t>
            </a:r>
          </a:p>
        </p:txBody>
      </p:sp>
      <p:sp>
        <p:nvSpPr>
          <p:cNvPr id="19" name="Rectangle 18"/>
          <p:cNvSpPr/>
          <p:nvPr/>
        </p:nvSpPr>
        <p:spPr>
          <a:xfrm>
            <a:off x="365760" y="5285231"/>
            <a:ext cx="54864" cy="5669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5285231"/>
            <a:ext cx="256032" cy="566928"/>
          </a:xfrm>
          <a:prstGeom prst="rect">
            <a:avLst/>
          </a:prstGeom>
          <a:noFill/>
        </p:spPr>
        <p:txBody>
          <a:bodyPr wrap="square" anchor="ctr"/>
          <a:lstStyle/>
          <a:p>
            <a:pPr algn="l"/>
            <a:r>
              <a:rPr sz="1300" b="1" i="0">
                <a:solidFill>
                  <a:srgbClr val="059669"/>
                </a:solidFill>
                <a:latin typeface="Calibri"/>
              </a:rPr>
              <a:t>C</a:t>
            </a:r>
          </a:p>
        </p:txBody>
      </p:sp>
      <p:sp>
        <p:nvSpPr>
          <p:cNvPr id="21" name="TextBox 20"/>
          <p:cNvSpPr txBox="1"/>
          <p:nvPr/>
        </p:nvSpPr>
        <p:spPr>
          <a:xfrm>
            <a:off x="768096" y="5285231"/>
            <a:ext cx="5029200" cy="566928"/>
          </a:xfrm>
          <a:prstGeom prst="rect">
            <a:avLst/>
          </a:prstGeom>
          <a:noFill/>
        </p:spPr>
        <p:txBody>
          <a:bodyPr wrap="square" anchor="ctr"/>
          <a:lstStyle/>
          <a:p>
            <a:pPr algn="l"/>
            <a:r>
              <a:rPr sz="1300" b="0" i="0">
                <a:solidFill>
                  <a:srgbClr val="0F172A"/>
                </a:solidFill>
                <a:latin typeface="Calibri"/>
              </a:rPr>
              <a:t>Both. And only naming both is useful.</a:t>
            </a:r>
          </a:p>
        </p:txBody>
      </p:sp>
      <p:sp>
        <p:nvSpPr>
          <p:cNvPr id="22" name="Rectangle 21"/>
          <p:cNvSpPr/>
          <p:nvPr/>
        </p:nvSpPr>
        <p:spPr>
          <a:xfrm>
            <a:off x="6126480" y="960120"/>
            <a:ext cx="36576" cy="5394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960120"/>
            <a:ext cx="54864" cy="4937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960120"/>
            <a:ext cx="5303520" cy="292608"/>
          </a:xfrm>
          <a:prstGeom prst="rect">
            <a:avLst/>
          </a:prstGeom>
          <a:noFill/>
        </p:spPr>
        <p:txBody>
          <a:bodyPr wrap="square">
            <a:spAutoFit/>
          </a:bodyPr>
          <a:lstStyle/>
          <a:p>
            <a:pPr algn="l"/>
            <a:r>
              <a:rPr sz="1100" b="1" i="0">
                <a:solidFill>
                  <a:srgbClr val="D97706"/>
                </a:solidFill>
                <a:latin typeface="Calibri"/>
              </a:rPr>
              <a:t>EXERCISE 3 — LIGHTNING VOTE</a:t>
            </a:r>
          </a:p>
        </p:txBody>
      </p:sp>
      <p:sp>
        <p:nvSpPr>
          <p:cNvPr id="25" name="TextBox 24"/>
          <p:cNvSpPr txBox="1"/>
          <p:nvPr/>
        </p:nvSpPr>
        <p:spPr>
          <a:xfrm>
            <a:off x="6263640" y="1316736"/>
            <a:ext cx="5532120" cy="914400"/>
          </a:xfrm>
          <a:prstGeom prst="rect">
            <a:avLst/>
          </a:prstGeom>
          <a:noFill/>
        </p:spPr>
        <p:txBody>
          <a:bodyPr wrap="square">
            <a:spAutoFit/>
          </a:bodyPr>
          <a:lstStyle/>
          <a:p>
            <a:pPr algn="l"/>
            <a:r>
              <a:rPr sz="1600" b="1" i="0">
                <a:solidFill>
                  <a:srgbClr val="1A2857"/>
                </a:solidFill>
                <a:latin typeface="Calibri"/>
              </a:rPr>
              <a:t>When an AI tool performs worse for a marginalised population, the primary problem is:</a:t>
            </a:r>
          </a:p>
        </p:txBody>
      </p:sp>
      <p:sp>
        <p:nvSpPr>
          <p:cNvPr id="26" name="Rectangle 25"/>
          <p:cNvSpPr/>
          <p:nvPr/>
        </p:nvSpPr>
        <p:spPr>
          <a:xfrm>
            <a:off x="6263640"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2359152"/>
            <a:ext cx="256032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2487168"/>
            <a:ext cx="2560320" cy="502920"/>
          </a:xfrm>
          <a:prstGeom prst="rect">
            <a:avLst/>
          </a:prstGeom>
          <a:noFill/>
        </p:spPr>
        <p:txBody>
          <a:bodyPr wrap="square">
            <a:spAutoFit/>
          </a:bodyPr>
          <a:lstStyle/>
          <a:p>
            <a:pPr algn="ctr"/>
            <a:r>
              <a:rPr sz="2600" b="1" i="0">
                <a:solidFill>
                  <a:srgbClr val="2563EB"/>
                </a:solidFill>
                <a:latin typeface="Calibri"/>
              </a:rPr>
              <a:t>A</a:t>
            </a:r>
          </a:p>
        </p:txBody>
      </p:sp>
      <p:sp>
        <p:nvSpPr>
          <p:cNvPr id="29" name="TextBox 28"/>
          <p:cNvSpPr txBox="1"/>
          <p:nvPr/>
        </p:nvSpPr>
        <p:spPr>
          <a:xfrm>
            <a:off x="6373368" y="3017520"/>
            <a:ext cx="2340863" cy="1371600"/>
          </a:xfrm>
          <a:prstGeom prst="rect">
            <a:avLst/>
          </a:prstGeom>
          <a:noFill/>
        </p:spPr>
        <p:txBody>
          <a:bodyPr wrap="square">
            <a:spAutoFit/>
          </a:bodyPr>
          <a:lstStyle/>
          <a:p>
            <a:pPr algn="ctr"/>
            <a:r>
              <a:rPr sz="1400" b="0" i="0">
                <a:solidFill>
                  <a:srgbClr val="0F172A"/>
                </a:solidFill>
                <a:latin typeface="Calibri"/>
              </a:rPr>
              <a:t>In the model</a:t>
            </a:r>
          </a:p>
        </p:txBody>
      </p:sp>
      <p:sp>
        <p:nvSpPr>
          <p:cNvPr id="30" name="Rectangle 29"/>
          <p:cNvSpPr/>
          <p:nvPr/>
        </p:nvSpPr>
        <p:spPr>
          <a:xfrm>
            <a:off x="9052559"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2559" y="2359152"/>
            <a:ext cx="256032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59" y="2487168"/>
            <a:ext cx="2560320" cy="502920"/>
          </a:xfrm>
          <a:prstGeom prst="rect">
            <a:avLst/>
          </a:prstGeom>
          <a:noFill/>
        </p:spPr>
        <p:txBody>
          <a:bodyPr wrap="square">
            <a:spAutoFit/>
          </a:bodyPr>
          <a:lstStyle/>
          <a:p>
            <a:pPr algn="ctr"/>
            <a:r>
              <a:rPr sz="2600" b="1" i="0">
                <a:solidFill>
                  <a:srgbClr val="7C3AED"/>
                </a:solidFill>
                <a:latin typeface="Calibri"/>
              </a:rPr>
              <a:t>B</a:t>
            </a:r>
          </a:p>
        </p:txBody>
      </p:sp>
      <p:sp>
        <p:nvSpPr>
          <p:cNvPr id="33" name="TextBox 32"/>
          <p:cNvSpPr txBox="1"/>
          <p:nvPr/>
        </p:nvSpPr>
        <p:spPr>
          <a:xfrm>
            <a:off x="9162287" y="3017520"/>
            <a:ext cx="2340863" cy="1371600"/>
          </a:xfrm>
          <a:prstGeom prst="rect">
            <a:avLst/>
          </a:prstGeom>
          <a:noFill/>
        </p:spPr>
        <p:txBody>
          <a:bodyPr wrap="square">
            <a:spAutoFit/>
          </a:bodyPr>
          <a:lstStyle/>
          <a:p>
            <a:pPr algn="ctr"/>
            <a:r>
              <a:rPr sz="1400" b="0" i="0">
                <a:solidFill>
                  <a:srgbClr val="0F172A"/>
                </a:solidFill>
                <a:latin typeface="Calibri"/>
              </a:rPr>
              <a:t>In the data system the model was built on</a:t>
            </a:r>
          </a:p>
        </p:txBody>
      </p:sp>
      <p:sp>
        <p:nvSpPr>
          <p:cNvPr id="34" name="Rectangle 33"/>
          <p:cNvSpPr/>
          <p:nvPr/>
        </p:nvSpPr>
        <p:spPr>
          <a:xfrm>
            <a:off x="6263640" y="4983480"/>
            <a:ext cx="553212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4983480"/>
            <a:ext cx="54864" cy="16002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5029200"/>
            <a:ext cx="5212080" cy="292608"/>
          </a:xfrm>
          <a:prstGeom prst="rect">
            <a:avLst/>
          </a:prstGeom>
          <a:noFill/>
        </p:spPr>
        <p:txBody>
          <a:bodyPr wrap="square">
            <a:spAutoFit/>
          </a:bodyPr>
          <a:lstStyle/>
          <a:p>
            <a:pPr algn="l"/>
            <a:r>
              <a:rPr sz="1000" b="1" i="0">
                <a:solidFill>
                  <a:srgbClr val="1A2857"/>
                </a:solidFill>
                <a:latin typeface="Calibri"/>
              </a:rPr>
              <a:t>DISCUSSION PROMPTS FOR PANELISTS</a:t>
            </a:r>
          </a:p>
        </p:txBody>
      </p:sp>
      <p:sp>
        <p:nvSpPr>
          <p:cNvPr id="37" name="TextBox 36"/>
          <p:cNvSpPr txBox="1"/>
          <p:nvPr/>
        </p:nvSpPr>
        <p:spPr>
          <a:xfrm>
            <a:off x="6446520" y="5367528"/>
            <a:ext cx="5212080" cy="365760"/>
          </a:xfrm>
          <a:prstGeom prst="rect">
            <a:avLst/>
          </a:prstGeom>
          <a:noFill/>
        </p:spPr>
        <p:txBody>
          <a:bodyPr wrap="square">
            <a:spAutoFit/>
          </a:bodyPr>
          <a:lstStyle/>
          <a:p>
            <a:pPr algn="l"/>
            <a:r>
              <a:rPr sz="1100" b="0" i="0">
                <a:solidFill>
                  <a:srgbClr val="64748B"/>
                </a:solidFill>
                <a:latin typeface="Calibri"/>
              </a:rPr>
              <a:t>• If the answer is both, how do we communicate that to a Ministry deciding whether to keep using the tool?</a:t>
            </a:r>
          </a:p>
        </p:txBody>
      </p:sp>
      <p:sp>
        <p:nvSpPr>
          <p:cNvPr id="38" name="TextBox 37"/>
          <p:cNvSpPr txBox="1"/>
          <p:nvPr/>
        </p:nvSpPr>
        <p:spPr>
          <a:xfrm>
            <a:off x="6446520" y="5769864"/>
            <a:ext cx="5212080" cy="365760"/>
          </a:xfrm>
          <a:prstGeom prst="rect">
            <a:avLst/>
          </a:prstGeom>
          <a:noFill/>
        </p:spPr>
        <p:txBody>
          <a:bodyPr wrap="square">
            <a:spAutoFit/>
          </a:bodyPr>
          <a:lstStyle/>
          <a:p>
            <a:pPr algn="l"/>
            <a:r>
              <a:rPr sz="1100" b="0" i="0">
                <a:solidFill>
                  <a:srgbClr val="64748B"/>
                </a:solidFill>
                <a:latin typeface="Calibri"/>
              </a:rPr>
              <a:t>• Who is responsible for fixing it? The vendor, the Ministry's data team, the donor that funded the underlying surveillanc…</a:t>
            </a:r>
          </a:p>
        </p:txBody>
      </p:sp>
      <p:sp>
        <p:nvSpPr>
          <p:cNvPr id="39" name="TextBox 38"/>
          <p:cNvSpPr txBox="1"/>
          <p:nvPr/>
        </p:nvSpPr>
        <p:spPr>
          <a:xfrm>
            <a:off x="6446520" y="6172200"/>
            <a:ext cx="5212080" cy="365760"/>
          </a:xfrm>
          <a:prstGeom prst="rect">
            <a:avLst/>
          </a:prstGeom>
          <a:noFill/>
        </p:spPr>
        <p:txBody>
          <a:bodyPr wrap="square">
            <a:spAutoFit/>
          </a:bodyPr>
          <a:lstStyle/>
          <a:p>
            <a:pPr algn="l"/>
            <a:r>
              <a:rPr sz="1100" b="0" i="0">
                <a:solidFill>
                  <a:srgbClr val="64748B"/>
                </a:solidFill>
                <a:latin typeface="Calibri"/>
              </a:rPr>
              <a:t>• Is calling this "model bias" actually unhelpful, because it routes the conversation toward retraining when the real fix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38404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384048"/>
          </a:xfrm>
          <a:prstGeom prst="rect">
            <a:avLst/>
          </a:prstGeom>
          <a:noFill/>
        </p:spPr>
        <p:txBody>
          <a:bodyPr wrap="square" anchor="ctr"/>
          <a:lstStyle/>
          <a:p>
            <a:pPr algn="ctr"/>
            <a:r>
              <a:rPr sz="10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874519"/>
            <a:ext cx="7772400" cy="1280160"/>
          </a:xfrm>
          <a:prstGeom prst="rect">
            <a:avLst/>
          </a:prstGeom>
          <a:noFill/>
        </p:spPr>
        <p:txBody>
          <a:bodyPr wrap="square">
            <a:spAutoFit/>
          </a:bodyPr>
          <a:lstStyle/>
          <a:p>
            <a:pPr algn="l"/>
            <a:r>
              <a:rPr sz="4400" b="1" i="0">
                <a:solidFill>
                  <a:srgbClr val="FFFFFF"/>
                </a:solidFill>
                <a:latin typeface="Calibri"/>
              </a:rPr>
              <a:t>Validation</a:t>
            </a:r>
          </a:p>
        </p:txBody>
      </p:sp>
      <p:sp>
        <p:nvSpPr>
          <p:cNvPr id="7" name="TextBox 6"/>
          <p:cNvSpPr txBox="1"/>
          <p:nvPr/>
        </p:nvSpPr>
        <p:spPr>
          <a:xfrm>
            <a:off x="685800" y="3246120"/>
            <a:ext cx="7498079" cy="1188720"/>
          </a:xfrm>
          <a:prstGeom prst="rect">
            <a:avLst/>
          </a:prstGeom>
          <a:noFill/>
        </p:spPr>
        <p:txBody>
          <a:bodyPr wrap="square">
            <a:spAutoFit/>
          </a:bodyPr>
          <a:lstStyle/>
          <a:p>
            <a:pPr algn="l"/>
            <a:r>
              <a:rPr sz="1500" b="0" i="1">
                <a:solidFill>
                  <a:srgbClr val="AABBD6"/>
                </a:solidFill>
                <a:latin typeface="Calibri"/>
              </a:rPr>
              <a:t>The process of testing an AI model to confirm it performs as intended, typically by evaluating it on data it has not previously seen.</a:t>
            </a:r>
          </a:p>
        </p:txBody>
      </p:sp>
      <p:sp>
        <p:nvSpPr>
          <p:cNvPr id="8" name="TextBox 7"/>
          <p:cNvSpPr txBox="1"/>
          <p:nvPr/>
        </p:nvSpPr>
        <p:spPr>
          <a:xfrm>
            <a:off x="685800" y="4572000"/>
            <a:ext cx="10515600" cy="914400"/>
          </a:xfrm>
          <a:prstGeom prst="rect">
            <a:avLst/>
          </a:prstGeom>
          <a:noFill/>
        </p:spPr>
        <p:txBody>
          <a:bodyPr wrap="square">
            <a:spAutoFit/>
          </a:bodyPr>
          <a:lstStyle/>
          <a:p>
            <a:pPr algn="l"/>
            <a:r>
              <a:rPr sz="1500" b="1" i="1">
                <a:solidFill>
                  <a:srgbClr val="F5C000"/>
                </a:solidFill>
                <a:latin typeface="Calibri"/>
              </a:rPr>
              <a:t>Key question: "If a tool was validated somewhere else, how do you know it works here?"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VALIDATION</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 1 — How Do You Define It?</a:t>
            </a:r>
          </a:p>
        </p:txBody>
      </p:sp>
      <p:sp>
        <p:nvSpPr>
          <p:cNvPr id="6" name="Rectangle 5"/>
          <p:cNvSpPr/>
          <p:nvPr/>
        </p:nvSpPr>
        <p:spPr>
          <a:xfrm>
            <a:off x="365760" y="960120"/>
            <a:ext cx="11430000" cy="713232"/>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713232"/>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621792"/>
          </a:xfrm>
          <a:prstGeom prst="rect">
            <a:avLst/>
          </a:prstGeom>
          <a:noFill/>
        </p:spPr>
        <p:txBody>
          <a:bodyPr wrap="square">
            <a:spAutoFit/>
          </a:bodyPr>
          <a:lstStyle/>
          <a:p>
            <a:pPr algn="l"/>
            <a:r>
              <a:rPr sz="1300" b="0" i="1">
                <a:solidFill>
                  <a:srgbClr val="1A2857"/>
                </a:solidFill>
                <a:latin typeface="Calibri"/>
              </a:rPr>
              <a:t>The process of testing an AI model to confirm it performs as intended, typically by evaluating it on data it has not previously seen.</a:t>
            </a:r>
          </a:p>
        </p:txBody>
      </p:sp>
      <p:sp>
        <p:nvSpPr>
          <p:cNvPr id="9" name="TextBox 8"/>
          <p:cNvSpPr txBox="1"/>
          <p:nvPr/>
        </p:nvSpPr>
        <p:spPr>
          <a:xfrm>
            <a:off x="365760" y="1773936"/>
            <a:ext cx="11430000" cy="347472"/>
          </a:xfrm>
          <a:prstGeom prst="rect">
            <a:avLst/>
          </a:prstGeom>
          <a:noFill/>
        </p:spPr>
        <p:txBody>
          <a:bodyPr wrap="square">
            <a:spAutoFit/>
          </a:bodyPr>
          <a:lstStyle/>
          <a:p>
            <a:pPr algn="l"/>
            <a:r>
              <a:rPr sz="1300" b="0" i="0">
                <a:solidFill>
                  <a:srgbClr val="64748B"/>
                </a:solidFill>
                <a:latin typeface="Calibri"/>
              </a:rPr>
              <a:t>Four definitions of Validation for an AI tool in health. Which one most closely reflects how YOU would apply the term in your work?</a:t>
            </a:r>
          </a:p>
        </p:txBody>
      </p:sp>
      <p:sp>
        <p:nvSpPr>
          <p:cNvPr id="10" name="Rectangle 9"/>
          <p:cNvSpPr/>
          <p:nvPr/>
        </p:nvSpPr>
        <p:spPr>
          <a:xfrm>
            <a:off x="36576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121408"/>
            <a:ext cx="64008" cy="187451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 y="2231136"/>
            <a:ext cx="29260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231136"/>
            <a:ext cx="292608" cy="292608"/>
          </a:xfrm>
          <a:prstGeom prst="rect">
            <a:avLst/>
          </a:prstGeom>
          <a:noFill/>
        </p:spPr>
        <p:txBody>
          <a:bodyPr wrap="square" anchor="ctr"/>
          <a:lstStyle/>
          <a:p>
            <a:pPr algn="ctr"/>
            <a:r>
              <a:rPr sz="1200" b="1" i="0">
                <a:solidFill>
                  <a:srgbClr val="FFFFFF"/>
                </a:solidFill>
                <a:latin typeface="Calibri"/>
              </a:rPr>
              <a:t>A</a:t>
            </a:r>
          </a:p>
        </p:txBody>
      </p:sp>
      <p:sp>
        <p:nvSpPr>
          <p:cNvPr id="14" name="TextBox 13"/>
          <p:cNvSpPr txBox="1"/>
          <p:nvPr/>
        </p:nvSpPr>
        <p:spPr>
          <a:xfrm>
            <a:off x="841248" y="2212848"/>
            <a:ext cx="5102352" cy="1581911"/>
          </a:xfrm>
          <a:prstGeom prst="rect">
            <a:avLst/>
          </a:prstGeom>
          <a:noFill/>
        </p:spPr>
        <p:txBody>
          <a:bodyPr wrap="square">
            <a:spAutoFit/>
          </a:bodyPr>
          <a:lstStyle/>
          <a:p>
            <a:pPr algn="l"/>
            <a:r>
              <a:rPr sz="1200" b="0" i="0">
                <a:solidFill>
                  <a:srgbClr val="0F172A"/>
                </a:solidFill>
                <a:latin typeface="Calibri"/>
              </a:rPr>
              <a:t>A continuous process rather than a one-time event: ongoing assessment of whether a deployed model continues to perform as intended as populations, data systems, and care delivery patterns change over time.</a:t>
            </a:r>
          </a:p>
        </p:txBody>
      </p:sp>
      <p:sp>
        <p:nvSpPr>
          <p:cNvPr id="15" name="TextBox 14"/>
          <p:cNvSpPr txBox="1"/>
          <p:nvPr/>
        </p:nvSpPr>
        <p:spPr>
          <a:xfrm>
            <a:off x="841248" y="3739895"/>
            <a:ext cx="5102352" cy="228600"/>
          </a:xfrm>
          <a:prstGeom prst="rect">
            <a:avLst/>
          </a:prstGeom>
          <a:noFill/>
        </p:spPr>
        <p:txBody>
          <a:bodyPr wrap="square">
            <a:spAutoFit/>
          </a:bodyPr>
          <a:lstStyle/>
          <a:p>
            <a:pPr algn="l"/>
            <a:r>
              <a:rPr sz="1100" b="0" i="1">
                <a:solidFill>
                  <a:srgbClr val="64748B"/>
                </a:solidFill>
                <a:latin typeface="Calibri"/>
              </a:rPr>
              <a:t>Post-market surveillance lens</a:t>
            </a:r>
          </a:p>
        </p:txBody>
      </p:sp>
      <p:sp>
        <p:nvSpPr>
          <p:cNvPr id="16" name="Rectangle 15"/>
          <p:cNvSpPr/>
          <p:nvPr/>
        </p:nvSpPr>
        <p:spPr>
          <a:xfrm>
            <a:off x="626364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121408"/>
            <a:ext cx="64008" cy="187451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73368" y="2231136"/>
            <a:ext cx="292608"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2231136"/>
            <a:ext cx="292608" cy="292608"/>
          </a:xfrm>
          <a:prstGeom prst="rect">
            <a:avLst/>
          </a:prstGeom>
          <a:noFill/>
        </p:spPr>
        <p:txBody>
          <a:bodyPr wrap="square" anchor="ctr"/>
          <a:lstStyle/>
          <a:p>
            <a:pPr algn="ctr"/>
            <a:r>
              <a:rPr sz="1200" b="1" i="0">
                <a:solidFill>
                  <a:srgbClr val="FFFFFF"/>
                </a:solidFill>
                <a:latin typeface="Calibri"/>
              </a:rPr>
              <a:t>B</a:t>
            </a:r>
          </a:p>
        </p:txBody>
      </p:sp>
      <p:sp>
        <p:nvSpPr>
          <p:cNvPr id="20" name="TextBox 19"/>
          <p:cNvSpPr txBox="1"/>
          <p:nvPr/>
        </p:nvSpPr>
        <p:spPr>
          <a:xfrm>
            <a:off x="6739127" y="2212848"/>
            <a:ext cx="5102352" cy="1581911"/>
          </a:xfrm>
          <a:prstGeom prst="rect">
            <a:avLst/>
          </a:prstGeom>
          <a:noFill/>
        </p:spPr>
        <p:txBody>
          <a:bodyPr wrap="square">
            <a:spAutoFit/>
          </a:bodyPr>
          <a:lstStyle/>
          <a:p>
            <a:pPr algn="l"/>
            <a:r>
              <a:rPr sz="1200" b="0" i="0">
                <a:solidFill>
                  <a:srgbClr val="0F172A"/>
                </a:solidFill>
                <a:latin typeface="Calibri"/>
              </a:rPr>
              <a:t>The process of testing a trained AI model on a dataset not used during development, drawn from a different institution, population, or time period, to assess whether its performance holds beyond the original development context.</a:t>
            </a:r>
          </a:p>
        </p:txBody>
      </p:sp>
      <p:sp>
        <p:nvSpPr>
          <p:cNvPr id="21" name="TextBox 20"/>
          <p:cNvSpPr txBox="1"/>
          <p:nvPr/>
        </p:nvSpPr>
        <p:spPr>
          <a:xfrm>
            <a:off x="6739127" y="3739895"/>
            <a:ext cx="5102352" cy="228600"/>
          </a:xfrm>
          <a:prstGeom prst="rect">
            <a:avLst/>
          </a:prstGeom>
          <a:noFill/>
        </p:spPr>
        <p:txBody>
          <a:bodyPr wrap="square">
            <a:spAutoFit/>
          </a:bodyPr>
          <a:lstStyle/>
          <a:p>
            <a:pPr algn="l"/>
            <a:r>
              <a:rPr sz="1100" b="0" i="1">
                <a:solidFill>
                  <a:srgbClr val="64748B"/>
                </a:solidFill>
                <a:latin typeface="Calibri"/>
              </a:rPr>
              <a:t>Regulatory / technical lens</a:t>
            </a:r>
          </a:p>
        </p:txBody>
      </p:sp>
      <p:sp>
        <p:nvSpPr>
          <p:cNvPr id="22" name="Rectangle 21"/>
          <p:cNvSpPr/>
          <p:nvPr/>
        </p:nvSpPr>
        <p:spPr>
          <a:xfrm>
            <a:off x="36576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187952"/>
            <a:ext cx="64008" cy="187451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 y="4297680"/>
            <a:ext cx="292608"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297680"/>
            <a:ext cx="292608" cy="292608"/>
          </a:xfrm>
          <a:prstGeom prst="rect">
            <a:avLst/>
          </a:prstGeom>
          <a:noFill/>
        </p:spPr>
        <p:txBody>
          <a:bodyPr wrap="square" anchor="ctr"/>
          <a:lstStyle/>
          <a:p>
            <a:pPr algn="ctr"/>
            <a:r>
              <a:rPr sz="1200" b="1" i="0">
                <a:solidFill>
                  <a:srgbClr val="FFFFFF"/>
                </a:solidFill>
                <a:latin typeface="Calibri"/>
              </a:rPr>
              <a:t>C</a:t>
            </a:r>
          </a:p>
        </p:txBody>
      </p:sp>
      <p:sp>
        <p:nvSpPr>
          <p:cNvPr id="26" name="TextBox 25"/>
          <p:cNvSpPr txBox="1"/>
          <p:nvPr/>
        </p:nvSpPr>
        <p:spPr>
          <a:xfrm>
            <a:off x="841248" y="4279392"/>
            <a:ext cx="5102352" cy="1581911"/>
          </a:xfrm>
          <a:prstGeom prst="rect">
            <a:avLst/>
          </a:prstGeom>
          <a:noFill/>
        </p:spPr>
        <p:txBody>
          <a:bodyPr wrap="square">
            <a:spAutoFit/>
          </a:bodyPr>
          <a:lstStyle/>
          <a:p>
            <a:pPr algn="l"/>
            <a:r>
              <a:rPr sz="1200" b="0" i="0">
                <a:solidFill>
                  <a:srgbClr val="0F172A"/>
                </a:solidFill>
                <a:latin typeface="Calibri"/>
              </a:rPr>
              <a:t>The process of assessing whether a model validated internally still performs in a local context on specific populations, facilities and data infrastructure.</a:t>
            </a:r>
          </a:p>
        </p:txBody>
      </p:sp>
      <p:sp>
        <p:nvSpPr>
          <p:cNvPr id="27" name="TextBox 26"/>
          <p:cNvSpPr txBox="1"/>
          <p:nvPr/>
        </p:nvSpPr>
        <p:spPr>
          <a:xfrm>
            <a:off x="841248" y="5806440"/>
            <a:ext cx="5102352" cy="228600"/>
          </a:xfrm>
          <a:prstGeom prst="rect">
            <a:avLst/>
          </a:prstGeom>
          <a:noFill/>
        </p:spPr>
        <p:txBody>
          <a:bodyPr wrap="square">
            <a:spAutoFit/>
          </a:bodyPr>
          <a:lstStyle/>
          <a:p>
            <a:pPr algn="l"/>
            <a:r>
              <a:rPr sz="1100" b="0" i="1">
                <a:solidFill>
                  <a:srgbClr val="64748B"/>
                </a:solidFill>
                <a:latin typeface="Calibri"/>
              </a:rPr>
              <a:t>Public health implementer lens</a:t>
            </a:r>
          </a:p>
        </p:txBody>
      </p:sp>
      <p:sp>
        <p:nvSpPr>
          <p:cNvPr id="28" name="Rectangle 27"/>
          <p:cNvSpPr/>
          <p:nvPr/>
        </p:nvSpPr>
        <p:spPr>
          <a:xfrm>
            <a:off x="626364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187952"/>
            <a:ext cx="64008" cy="187451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73368" y="4297680"/>
            <a:ext cx="292608"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3368" y="4297680"/>
            <a:ext cx="292608" cy="292608"/>
          </a:xfrm>
          <a:prstGeom prst="rect">
            <a:avLst/>
          </a:prstGeom>
          <a:noFill/>
        </p:spPr>
        <p:txBody>
          <a:bodyPr wrap="square" anchor="ctr"/>
          <a:lstStyle/>
          <a:p>
            <a:pPr algn="ctr"/>
            <a:r>
              <a:rPr sz="1200" b="1" i="0">
                <a:solidFill>
                  <a:srgbClr val="FFFFFF"/>
                </a:solidFill>
                <a:latin typeface="Calibri"/>
              </a:rPr>
              <a:t>D</a:t>
            </a:r>
          </a:p>
        </p:txBody>
      </p:sp>
      <p:sp>
        <p:nvSpPr>
          <p:cNvPr id="32" name="TextBox 31"/>
          <p:cNvSpPr txBox="1"/>
          <p:nvPr/>
        </p:nvSpPr>
        <p:spPr>
          <a:xfrm>
            <a:off x="6739127" y="4279392"/>
            <a:ext cx="5102352" cy="1581911"/>
          </a:xfrm>
          <a:prstGeom prst="rect">
            <a:avLst/>
          </a:prstGeom>
          <a:noFill/>
        </p:spPr>
        <p:txBody>
          <a:bodyPr wrap="square">
            <a:spAutoFit/>
          </a:bodyPr>
          <a:lstStyle/>
          <a:p>
            <a:pPr algn="l"/>
            <a:r>
              <a:rPr sz="1200" b="0" i="0">
                <a:solidFill>
                  <a:srgbClr val="0F172A"/>
                </a:solidFill>
                <a:latin typeface="Calibri"/>
              </a:rPr>
              <a:t>A one-time pre-deployment requirement: evidence that a model performs adequately on an independent test set before it is approved for clinical or program use.</a:t>
            </a:r>
          </a:p>
        </p:txBody>
      </p:sp>
      <p:sp>
        <p:nvSpPr>
          <p:cNvPr id="33" name="TextBox 32"/>
          <p:cNvSpPr txBox="1"/>
          <p:nvPr/>
        </p:nvSpPr>
        <p:spPr>
          <a:xfrm>
            <a:off x="6739127" y="5806440"/>
            <a:ext cx="5102352" cy="228600"/>
          </a:xfrm>
          <a:prstGeom prst="rect">
            <a:avLst/>
          </a:prstGeom>
          <a:noFill/>
        </p:spPr>
        <p:txBody>
          <a:bodyPr wrap="square">
            <a:spAutoFit/>
          </a:bodyPr>
          <a:lstStyle/>
          <a:p>
            <a:pPr algn="l"/>
            <a:r>
              <a:rPr sz="1100" b="0" i="1">
                <a:solidFill>
                  <a:srgbClr val="64748B"/>
                </a:solidFill>
                <a:latin typeface="Calibri"/>
              </a:rPr>
              <a:t>Procurement / approval lens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VALIDATION</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Exercises 2 &amp; 3 — Scenario and Lightning Vote</a:t>
            </a:r>
          </a:p>
        </p:txBody>
      </p:sp>
      <p:sp>
        <p:nvSpPr>
          <p:cNvPr id="6" name="Rectangle 5"/>
          <p:cNvSpPr/>
          <p:nvPr/>
        </p:nvSpPr>
        <p:spPr>
          <a:xfrm>
            <a:off x="365760" y="960120"/>
            <a:ext cx="54864" cy="4937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60120"/>
            <a:ext cx="5303520" cy="292608"/>
          </a:xfrm>
          <a:prstGeom prst="rect">
            <a:avLst/>
          </a:prstGeom>
          <a:noFill/>
        </p:spPr>
        <p:txBody>
          <a:bodyPr wrap="square">
            <a:spAutoFit/>
          </a:bodyPr>
          <a:lstStyle/>
          <a:p>
            <a:pPr algn="l"/>
            <a:r>
              <a:rPr sz="1100" b="1" i="0">
                <a:solidFill>
                  <a:srgbClr val="2563EB"/>
                </a:solidFill>
                <a:latin typeface="Calibri"/>
              </a:rPr>
              <a:t>EXERCISE 2 — SCENARIO</a:t>
            </a:r>
          </a:p>
        </p:txBody>
      </p:sp>
      <p:sp>
        <p:nvSpPr>
          <p:cNvPr id="8" name="Rectangle 7"/>
          <p:cNvSpPr/>
          <p:nvPr/>
        </p:nvSpPr>
        <p:spPr>
          <a:xfrm>
            <a:off x="365760" y="1316736"/>
            <a:ext cx="5486400" cy="201168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16736"/>
            <a:ext cx="54864" cy="201168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26464"/>
            <a:ext cx="53035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11" name="TextBox 10"/>
          <p:cNvSpPr txBox="1"/>
          <p:nvPr/>
        </p:nvSpPr>
        <p:spPr>
          <a:xfrm>
            <a:off x="502920" y="1664207"/>
            <a:ext cx="5303520" cy="1572768"/>
          </a:xfrm>
          <a:prstGeom prst="rect">
            <a:avLst/>
          </a:prstGeom>
          <a:noFill/>
        </p:spPr>
        <p:txBody>
          <a:bodyPr wrap="square">
            <a:spAutoFit/>
          </a:bodyPr>
          <a:lstStyle/>
          <a:p>
            <a:pPr algn="l"/>
            <a:r>
              <a:rPr sz="1200" b="0" i="0">
                <a:solidFill>
                  <a:srgbClr val="FFFFFF"/>
                </a:solidFill>
                <a:latin typeface="Calibri"/>
              </a:rPr>
              <a:t>Your organisation is supporting the rollout of an AI clinical scribe across a network of public health facilities. The product documentation states the tool has been validated with high accuracy on clinical consultation transcripts. Your team establishes that all validation datasets came from private hospital settings in two high-income countries with structured consultation formats. Your facilities run high-volume consultations with patient histories that include conditions underrepresented in the training data. Clinicians are required to review and sign off each AI-generated note before it enters the patient record.</a:t>
            </a:r>
          </a:p>
        </p:txBody>
      </p:sp>
      <p:sp>
        <p:nvSpPr>
          <p:cNvPr id="12" name="TextBox 11"/>
          <p:cNvSpPr txBox="1"/>
          <p:nvPr/>
        </p:nvSpPr>
        <p:spPr>
          <a:xfrm>
            <a:off x="365760" y="3401568"/>
            <a:ext cx="5486400" cy="384048"/>
          </a:xfrm>
          <a:prstGeom prst="rect">
            <a:avLst/>
          </a:prstGeom>
          <a:noFill/>
        </p:spPr>
        <p:txBody>
          <a:bodyPr wrap="square">
            <a:spAutoFit/>
          </a:bodyPr>
          <a:lstStyle/>
          <a:p>
            <a:pPr algn="l"/>
            <a:r>
              <a:rPr sz="1500" b="1" i="0">
                <a:solidFill>
                  <a:srgbClr val="1A2857"/>
                </a:solidFill>
                <a:latin typeface="Calibri"/>
              </a:rPr>
              <a:t>Is this tool validated for this deployment?</a:t>
            </a:r>
          </a:p>
        </p:txBody>
      </p:sp>
      <p:sp>
        <p:nvSpPr>
          <p:cNvPr id="13" name="Rectangle 12"/>
          <p:cNvSpPr/>
          <p:nvPr/>
        </p:nvSpPr>
        <p:spPr>
          <a:xfrm>
            <a:off x="365760" y="3858768"/>
            <a:ext cx="54864" cy="5669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3858768"/>
            <a:ext cx="256032" cy="566928"/>
          </a:xfrm>
          <a:prstGeom prst="rect">
            <a:avLst/>
          </a:prstGeom>
          <a:noFill/>
        </p:spPr>
        <p:txBody>
          <a:bodyPr wrap="square" anchor="ctr"/>
          <a:lstStyle/>
          <a:p>
            <a:pPr algn="l"/>
            <a:r>
              <a:rPr sz="1300" b="1" i="0">
                <a:solidFill>
                  <a:srgbClr val="2563EB"/>
                </a:solidFill>
                <a:latin typeface="Calibri"/>
              </a:rPr>
              <a:t>A</a:t>
            </a:r>
          </a:p>
        </p:txBody>
      </p:sp>
      <p:sp>
        <p:nvSpPr>
          <p:cNvPr id="15" name="TextBox 14"/>
          <p:cNvSpPr txBox="1"/>
          <p:nvPr/>
        </p:nvSpPr>
        <p:spPr>
          <a:xfrm>
            <a:off x="768096" y="3858768"/>
            <a:ext cx="5029200" cy="566928"/>
          </a:xfrm>
          <a:prstGeom prst="rect">
            <a:avLst/>
          </a:prstGeom>
          <a:noFill/>
        </p:spPr>
        <p:txBody>
          <a:bodyPr wrap="square" anchor="ctr"/>
          <a:lstStyle/>
          <a:p>
            <a:pPr algn="l"/>
            <a:r>
              <a:rPr sz="1300" b="0" i="0">
                <a:solidFill>
                  <a:srgbClr val="0F172A"/>
                </a:solidFill>
                <a:latin typeface="Calibri"/>
              </a:rPr>
              <a:t>Yes — the vendor met a recognised standard for validation. What was done is what the term requires.</a:t>
            </a:r>
          </a:p>
        </p:txBody>
      </p:sp>
      <p:sp>
        <p:nvSpPr>
          <p:cNvPr id="16" name="Rectangle 15"/>
          <p:cNvSpPr/>
          <p:nvPr/>
        </p:nvSpPr>
        <p:spPr>
          <a:xfrm>
            <a:off x="365760" y="4572000"/>
            <a:ext cx="54864"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4572000"/>
            <a:ext cx="256032" cy="566928"/>
          </a:xfrm>
          <a:prstGeom prst="rect">
            <a:avLst/>
          </a:prstGeom>
          <a:noFill/>
        </p:spPr>
        <p:txBody>
          <a:bodyPr wrap="square" anchor="ctr"/>
          <a:lstStyle/>
          <a:p>
            <a:pPr algn="l"/>
            <a:r>
              <a:rPr sz="1300" b="1" i="0">
                <a:solidFill>
                  <a:srgbClr val="7C3AED"/>
                </a:solidFill>
                <a:latin typeface="Calibri"/>
              </a:rPr>
              <a:t>B</a:t>
            </a:r>
          </a:p>
        </p:txBody>
      </p:sp>
      <p:sp>
        <p:nvSpPr>
          <p:cNvPr id="18" name="TextBox 17"/>
          <p:cNvSpPr txBox="1"/>
          <p:nvPr/>
        </p:nvSpPr>
        <p:spPr>
          <a:xfrm>
            <a:off x="768096" y="4572000"/>
            <a:ext cx="5029200" cy="566928"/>
          </a:xfrm>
          <a:prstGeom prst="rect">
            <a:avLst/>
          </a:prstGeom>
          <a:noFill/>
        </p:spPr>
        <p:txBody>
          <a:bodyPr wrap="square" anchor="ctr"/>
          <a:lstStyle/>
          <a:p>
            <a:pPr algn="l"/>
            <a:r>
              <a:rPr sz="1300" b="0" i="0">
                <a:solidFill>
                  <a:srgbClr val="0F172A"/>
                </a:solidFill>
                <a:latin typeface="Calibri"/>
              </a:rPr>
              <a:t>No — a separate local validation study would be needed before this deployment can be trusted.</a:t>
            </a:r>
          </a:p>
        </p:txBody>
      </p:sp>
      <p:sp>
        <p:nvSpPr>
          <p:cNvPr id="19" name="Rectangle 18"/>
          <p:cNvSpPr/>
          <p:nvPr/>
        </p:nvSpPr>
        <p:spPr>
          <a:xfrm>
            <a:off x="365760" y="5285231"/>
            <a:ext cx="54864" cy="5669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5285231"/>
            <a:ext cx="256032" cy="566928"/>
          </a:xfrm>
          <a:prstGeom prst="rect">
            <a:avLst/>
          </a:prstGeom>
          <a:noFill/>
        </p:spPr>
        <p:txBody>
          <a:bodyPr wrap="square" anchor="ctr"/>
          <a:lstStyle/>
          <a:p>
            <a:pPr algn="l"/>
            <a:r>
              <a:rPr sz="1300" b="1" i="0">
                <a:solidFill>
                  <a:srgbClr val="059669"/>
                </a:solidFill>
                <a:latin typeface="Calibri"/>
              </a:rPr>
              <a:t>C</a:t>
            </a:r>
          </a:p>
        </p:txBody>
      </p:sp>
      <p:sp>
        <p:nvSpPr>
          <p:cNvPr id="21" name="TextBox 20"/>
          <p:cNvSpPr txBox="1"/>
          <p:nvPr/>
        </p:nvSpPr>
        <p:spPr>
          <a:xfrm>
            <a:off x="768096" y="5285231"/>
            <a:ext cx="5029200" cy="566928"/>
          </a:xfrm>
          <a:prstGeom prst="rect">
            <a:avLst/>
          </a:prstGeom>
          <a:noFill/>
        </p:spPr>
        <p:txBody>
          <a:bodyPr wrap="square" anchor="ctr"/>
          <a:lstStyle/>
          <a:p>
            <a:pPr algn="l"/>
            <a:r>
              <a:rPr sz="1300" b="0" i="0">
                <a:solidFill>
                  <a:srgbClr val="0F172A"/>
                </a:solidFill>
                <a:latin typeface="Calibri"/>
              </a:rPr>
              <a:t>The term is being used to mean two different things, and neither party is wrong on their own terms.</a:t>
            </a:r>
          </a:p>
        </p:txBody>
      </p:sp>
      <p:sp>
        <p:nvSpPr>
          <p:cNvPr id="22" name="Rectangle 21"/>
          <p:cNvSpPr/>
          <p:nvPr/>
        </p:nvSpPr>
        <p:spPr>
          <a:xfrm>
            <a:off x="6126480" y="960120"/>
            <a:ext cx="36576" cy="5394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960120"/>
            <a:ext cx="54864" cy="4937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960120"/>
            <a:ext cx="5303520" cy="292608"/>
          </a:xfrm>
          <a:prstGeom prst="rect">
            <a:avLst/>
          </a:prstGeom>
          <a:noFill/>
        </p:spPr>
        <p:txBody>
          <a:bodyPr wrap="square">
            <a:spAutoFit/>
          </a:bodyPr>
          <a:lstStyle/>
          <a:p>
            <a:pPr algn="l"/>
            <a:r>
              <a:rPr sz="1100" b="1" i="0">
                <a:solidFill>
                  <a:srgbClr val="D97706"/>
                </a:solidFill>
                <a:latin typeface="Calibri"/>
              </a:rPr>
              <a:t>EXERCISE 3 — LIGHTNING VOTE</a:t>
            </a:r>
          </a:p>
        </p:txBody>
      </p:sp>
      <p:sp>
        <p:nvSpPr>
          <p:cNvPr id="25" name="TextBox 24"/>
          <p:cNvSpPr txBox="1"/>
          <p:nvPr/>
        </p:nvSpPr>
        <p:spPr>
          <a:xfrm>
            <a:off x="6263640" y="1316736"/>
            <a:ext cx="5532120" cy="914400"/>
          </a:xfrm>
          <a:prstGeom prst="rect">
            <a:avLst/>
          </a:prstGeom>
          <a:noFill/>
        </p:spPr>
        <p:txBody>
          <a:bodyPr wrap="square">
            <a:spAutoFit/>
          </a:bodyPr>
          <a:lstStyle/>
          <a:p>
            <a:pPr algn="l"/>
            <a:r>
              <a:rPr sz="1600" b="1" i="0">
                <a:solidFill>
                  <a:srgbClr val="1A2857"/>
                </a:solidFill>
                <a:latin typeface="Calibri"/>
              </a:rPr>
              <a:t>When an AI tool is described as validated, the responsibility for ensuring this applies to the deployment context sits with:</a:t>
            </a:r>
          </a:p>
        </p:txBody>
      </p:sp>
      <p:sp>
        <p:nvSpPr>
          <p:cNvPr id="26" name="Rectangle 25"/>
          <p:cNvSpPr/>
          <p:nvPr/>
        </p:nvSpPr>
        <p:spPr>
          <a:xfrm>
            <a:off x="6263640"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2359152"/>
            <a:ext cx="256032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2487168"/>
            <a:ext cx="2560320" cy="502920"/>
          </a:xfrm>
          <a:prstGeom prst="rect">
            <a:avLst/>
          </a:prstGeom>
          <a:noFill/>
        </p:spPr>
        <p:txBody>
          <a:bodyPr wrap="square">
            <a:spAutoFit/>
          </a:bodyPr>
          <a:lstStyle/>
          <a:p>
            <a:pPr algn="ctr"/>
            <a:r>
              <a:rPr sz="2600" b="1" i="0">
                <a:solidFill>
                  <a:srgbClr val="2563EB"/>
                </a:solidFill>
                <a:latin typeface="Calibri"/>
              </a:rPr>
              <a:t>A</a:t>
            </a:r>
          </a:p>
        </p:txBody>
      </p:sp>
      <p:sp>
        <p:nvSpPr>
          <p:cNvPr id="29" name="TextBox 28"/>
          <p:cNvSpPr txBox="1"/>
          <p:nvPr/>
        </p:nvSpPr>
        <p:spPr>
          <a:xfrm>
            <a:off x="6373368" y="3017520"/>
            <a:ext cx="2340863" cy="1371600"/>
          </a:xfrm>
          <a:prstGeom prst="rect">
            <a:avLst/>
          </a:prstGeom>
          <a:noFill/>
        </p:spPr>
        <p:txBody>
          <a:bodyPr wrap="square">
            <a:spAutoFit/>
          </a:bodyPr>
          <a:lstStyle/>
          <a:p>
            <a:pPr algn="ctr"/>
            <a:r>
              <a:rPr sz="1400" b="0" i="0">
                <a:solidFill>
                  <a:srgbClr val="0F172A"/>
                </a:solidFill>
                <a:latin typeface="Calibri"/>
              </a:rPr>
              <a:t>The product or software vendor, to demonstrate the validation is applicable to the local deployment context.</a:t>
            </a:r>
          </a:p>
        </p:txBody>
      </p:sp>
      <p:sp>
        <p:nvSpPr>
          <p:cNvPr id="30" name="Rectangle 29"/>
          <p:cNvSpPr/>
          <p:nvPr/>
        </p:nvSpPr>
        <p:spPr>
          <a:xfrm>
            <a:off x="9052559"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2559" y="2359152"/>
            <a:ext cx="256032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59" y="2487168"/>
            <a:ext cx="2560320" cy="502920"/>
          </a:xfrm>
          <a:prstGeom prst="rect">
            <a:avLst/>
          </a:prstGeom>
          <a:noFill/>
        </p:spPr>
        <p:txBody>
          <a:bodyPr wrap="square">
            <a:spAutoFit/>
          </a:bodyPr>
          <a:lstStyle/>
          <a:p>
            <a:pPr algn="ctr"/>
            <a:r>
              <a:rPr sz="2600" b="1" i="0">
                <a:solidFill>
                  <a:srgbClr val="7C3AED"/>
                </a:solidFill>
                <a:latin typeface="Calibri"/>
              </a:rPr>
              <a:t>B</a:t>
            </a:r>
          </a:p>
        </p:txBody>
      </p:sp>
      <p:sp>
        <p:nvSpPr>
          <p:cNvPr id="33" name="TextBox 32"/>
          <p:cNvSpPr txBox="1"/>
          <p:nvPr/>
        </p:nvSpPr>
        <p:spPr>
          <a:xfrm>
            <a:off x="9162287" y="3017520"/>
            <a:ext cx="2340863" cy="1371600"/>
          </a:xfrm>
          <a:prstGeom prst="rect">
            <a:avLst/>
          </a:prstGeom>
          <a:noFill/>
        </p:spPr>
        <p:txBody>
          <a:bodyPr wrap="square">
            <a:spAutoFit/>
          </a:bodyPr>
          <a:lstStyle/>
          <a:p>
            <a:pPr algn="ctr"/>
            <a:r>
              <a:rPr sz="1400" b="0" i="0">
                <a:solidFill>
                  <a:srgbClr val="0F172A"/>
                </a:solidFill>
                <a:latin typeface="Calibri"/>
              </a:rPr>
              <a:t>The implementing organisation, to conduct or commission local validation before deployment.</a:t>
            </a:r>
          </a:p>
        </p:txBody>
      </p:sp>
      <p:sp>
        <p:nvSpPr>
          <p:cNvPr id="34" name="Rectangle 33"/>
          <p:cNvSpPr/>
          <p:nvPr/>
        </p:nvSpPr>
        <p:spPr>
          <a:xfrm>
            <a:off x="6263640" y="4983480"/>
            <a:ext cx="553212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4983480"/>
            <a:ext cx="54864" cy="16002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5029200"/>
            <a:ext cx="5212080" cy="292608"/>
          </a:xfrm>
          <a:prstGeom prst="rect">
            <a:avLst/>
          </a:prstGeom>
          <a:noFill/>
        </p:spPr>
        <p:txBody>
          <a:bodyPr wrap="square">
            <a:spAutoFit/>
          </a:bodyPr>
          <a:lstStyle/>
          <a:p>
            <a:pPr algn="l"/>
            <a:r>
              <a:rPr sz="1000" b="1" i="0">
                <a:solidFill>
                  <a:srgbClr val="1A2857"/>
                </a:solidFill>
                <a:latin typeface="Calibri"/>
              </a:rPr>
              <a:t>DISCUSSION PROMPTS FOR PANELISTS</a:t>
            </a:r>
          </a:p>
        </p:txBody>
      </p:sp>
      <p:sp>
        <p:nvSpPr>
          <p:cNvPr id="37" name="TextBox 36"/>
          <p:cNvSpPr txBox="1"/>
          <p:nvPr/>
        </p:nvSpPr>
        <p:spPr>
          <a:xfrm>
            <a:off x="6446520" y="5367528"/>
            <a:ext cx="5212080" cy="365760"/>
          </a:xfrm>
          <a:prstGeom prst="rect">
            <a:avLst/>
          </a:prstGeom>
          <a:noFill/>
        </p:spPr>
        <p:txBody>
          <a:bodyPr wrap="square">
            <a:spAutoFit/>
          </a:bodyPr>
          <a:lstStyle/>
          <a:p>
            <a:pPr algn="l"/>
            <a:r>
              <a:rPr sz="1100" b="0" i="0">
                <a:solidFill>
                  <a:srgbClr val="64748B"/>
                </a:solidFill>
                <a:latin typeface="Calibri"/>
              </a:rPr>
              <a:t>• If the clinician signs off each note, does that substitute for local validation, or does it transfer the risk to the cli…</a:t>
            </a:r>
          </a:p>
        </p:txBody>
      </p:sp>
      <p:sp>
        <p:nvSpPr>
          <p:cNvPr id="38" name="TextBox 37"/>
          <p:cNvSpPr txBox="1"/>
          <p:nvPr/>
        </p:nvSpPr>
        <p:spPr>
          <a:xfrm>
            <a:off x="6446520" y="5769864"/>
            <a:ext cx="5212080" cy="365760"/>
          </a:xfrm>
          <a:prstGeom prst="rect">
            <a:avLst/>
          </a:prstGeom>
          <a:noFill/>
        </p:spPr>
        <p:txBody>
          <a:bodyPr wrap="square">
            <a:spAutoFit/>
          </a:bodyPr>
          <a:lstStyle/>
          <a:p>
            <a:pPr algn="l"/>
            <a:r>
              <a:rPr sz="1100" b="0" i="0">
                <a:solidFill>
                  <a:srgbClr val="64748B"/>
                </a:solidFill>
                <a:latin typeface="Calibri"/>
              </a:rPr>
              <a:t>• The vendor says validated. The procurement team read that as applicable to this context. Is that a miscommunication, or …</a:t>
            </a:r>
          </a:p>
        </p:txBody>
      </p:sp>
      <p:sp>
        <p:nvSpPr>
          <p:cNvPr id="39" name="TextBox 38"/>
          <p:cNvSpPr txBox="1"/>
          <p:nvPr/>
        </p:nvSpPr>
        <p:spPr>
          <a:xfrm>
            <a:off x="6446520" y="6172200"/>
            <a:ext cx="5212080" cy="365760"/>
          </a:xfrm>
          <a:prstGeom prst="rect">
            <a:avLst/>
          </a:prstGeom>
          <a:noFill/>
        </p:spPr>
        <p:txBody>
          <a:bodyPr wrap="square">
            <a:spAutoFit/>
          </a:bodyPr>
          <a:lstStyle/>
          <a:p>
            <a:pPr algn="l"/>
            <a:r>
              <a:rPr sz="1100" b="0" i="0">
                <a:solidFill>
                  <a:srgbClr val="64748B"/>
                </a:solidFill>
                <a:latin typeface="Calibri"/>
              </a:rPr>
              <a:t>• What would a minimum viable local validation study look like for an AI scribe in this setting, and who should fund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38404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384048"/>
          </a:xfrm>
          <a:prstGeom prst="rect">
            <a:avLst/>
          </a:prstGeom>
          <a:noFill/>
        </p:spPr>
        <p:txBody>
          <a:bodyPr wrap="square" anchor="ctr"/>
          <a:lstStyle/>
          <a:p>
            <a:pPr algn="ctr"/>
            <a:r>
              <a:rPr sz="10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874519"/>
            <a:ext cx="7772400" cy="1280160"/>
          </a:xfrm>
          <a:prstGeom prst="rect">
            <a:avLst/>
          </a:prstGeom>
          <a:noFill/>
        </p:spPr>
        <p:txBody>
          <a:bodyPr wrap="square">
            <a:spAutoFit/>
          </a:bodyPr>
          <a:lstStyle/>
          <a:p>
            <a:pPr algn="l"/>
            <a:r>
              <a:rPr sz="4400" b="1" i="0">
                <a:solidFill>
                  <a:srgbClr val="FFFFFF"/>
                </a:solidFill>
                <a:latin typeface="Calibri"/>
              </a:rPr>
              <a:t>AI Governance</a:t>
            </a:r>
          </a:p>
        </p:txBody>
      </p:sp>
      <p:sp>
        <p:nvSpPr>
          <p:cNvPr id="7" name="TextBox 6"/>
          <p:cNvSpPr txBox="1"/>
          <p:nvPr/>
        </p:nvSpPr>
        <p:spPr>
          <a:xfrm>
            <a:off x="685800" y="3246120"/>
            <a:ext cx="7498079" cy="1188720"/>
          </a:xfrm>
          <a:prstGeom prst="rect">
            <a:avLst/>
          </a:prstGeom>
          <a:noFill/>
        </p:spPr>
        <p:txBody>
          <a:bodyPr wrap="square">
            <a:spAutoFit/>
          </a:bodyPr>
          <a:lstStyle/>
          <a:p>
            <a:pPr algn="l"/>
            <a:r>
              <a:rPr sz="1500" b="0" i="1">
                <a:solidFill>
                  <a:srgbClr val="AABBD6"/>
                </a:solidFill>
                <a:latin typeface="Calibri"/>
              </a:rPr>
              <a:t>The frameworks, processes, regulations, and accountability structures that guide how AI systems are built, deployed, monitored, and controlled.</a:t>
            </a:r>
          </a:p>
        </p:txBody>
      </p:sp>
      <p:sp>
        <p:nvSpPr>
          <p:cNvPr id="8" name="TextBox 7"/>
          <p:cNvSpPr txBox="1"/>
          <p:nvPr/>
        </p:nvSpPr>
        <p:spPr>
          <a:xfrm>
            <a:off x="685800" y="4572000"/>
            <a:ext cx="10515600" cy="914400"/>
          </a:xfrm>
          <a:prstGeom prst="rect">
            <a:avLst/>
          </a:prstGeom>
          <a:noFill/>
        </p:spPr>
        <p:txBody>
          <a:bodyPr wrap="square">
            <a:spAutoFit/>
          </a:bodyPr>
          <a:lstStyle/>
          <a:p>
            <a:pPr algn="l"/>
            <a:r>
              <a:rPr sz="1500" b="1" i="1">
                <a:solidFill>
                  <a:srgbClr val="F5C000"/>
                </a:solidFill>
                <a:latin typeface="Calibri"/>
              </a:rPr>
              <a:t>Key question: "Can you meaningfully govern an AI tool without governing the infrastructure it runs 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AI GOVERNANCE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 1 — How Do You Define It?</a:t>
            </a:r>
          </a:p>
        </p:txBody>
      </p:sp>
      <p:sp>
        <p:nvSpPr>
          <p:cNvPr id="6" name="Rectangle 5"/>
          <p:cNvSpPr/>
          <p:nvPr/>
        </p:nvSpPr>
        <p:spPr>
          <a:xfrm>
            <a:off x="365760" y="960120"/>
            <a:ext cx="11430000" cy="713232"/>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713232"/>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621792"/>
          </a:xfrm>
          <a:prstGeom prst="rect">
            <a:avLst/>
          </a:prstGeom>
          <a:noFill/>
        </p:spPr>
        <p:txBody>
          <a:bodyPr wrap="square">
            <a:spAutoFit/>
          </a:bodyPr>
          <a:lstStyle/>
          <a:p>
            <a:pPr algn="l"/>
            <a:r>
              <a:rPr sz="1300" b="0" i="1">
                <a:solidFill>
                  <a:srgbClr val="1A2857"/>
                </a:solidFill>
                <a:latin typeface="Calibri"/>
              </a:rPr>
              <a:t>The frameworks, processes, regulations, and accountability structures that guide how AI systems are built, deployed, monitored, and controlled.</a:t>
            </a:r>
          </a:p>
        </p:txBody>
      </p:sp>
      <p:sp>
        <p:nvSpPr>
          <p:cNvPr id="9" name="TextBox 8"/>
          <p:cNvSpPr txBox="1"/>
          <p:nvPr/>
        </p:nvSpPr>
        <p:spPr>
          <a:xfrm>
            <a:off x="365760" y="1773936"/>
            <a:ext cx="11430000" cy="347472"/>
          </a:xfrm>
          <a:prstGeom prst="rect">
            <a:avLst/>
          </a:prstGeom>
          <a:noFill/>
        </p:spPr>
        <p:txBody>
          <a:bodyPr wrap="square">
            <a:spAutoFit/>
          </a:bodyPr>
          <a:lstStyle/>
          <a:p>
            <a:pPr algn="l"/>
            <a:r>
              <a:rPr sz="1300" b="0" i="0">
                <a:solidFill>
                  <a:srgbClr val="64748B"/>
                </a:solidFill>
                <a:latin typeface="Calibri"/>
              </a:rPr>
              <a:t>Four definitions of AI Governance in the context of public health. Which one best matches how YOU think it should apply?</a:t>
            </a:r>
          </a:p>
        </p:txBody>
      </p:sp>
      <p:sp>
        <p:nvSpPr>
          <p:cNvPr id="10" name="Rectangle 9"/>
          <p:cNvSpPr/>
          <p:nvPr/>
        </p:nvSpPr>
        <p:spPr>
          <a:xfrm>
            <a:off x="36576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121408"/>
            <a:ext cx="64008" cy="187451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 y="2231136"/>
            <a:ext cx="29260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231136"/>
            <a:ext cx="292608" cy="292608"/>
          </a:xfrm>
          <a:prstGeom prst="rect">
            <a:avLst/>
          </a:prstGeom>
          <a:noFill/>
        </p:spPr>
        <p:txBody>
          <a:bodyPr wrap="square" anchor="ctr"/>
          <a:lstStyle/>
          <a:p>
            <a:pPr algn="ctr"/>
            <a:r>
              <a:rPr sz="1200" b="1" i="0">
                <a:solidFill>
                  <a:srgbClr val="FFFFFF"/>
                </a:solidFill>
                <a:latin typeface="Calibri"/>
              </a:rPr>
              <a:t>A</a:t>
            </a:r>
          </a:p>
        </p:txBody>
      </p:sp>
      <p:sp>
        <p:nvSpPr>
          <p:cNvPr id="14" name="TextBox 13"/>
          <p:cNvSpPr txBox="1"/>
          <p:nvPr/>
        </p:nvSpPr>
        <p:spPr>
          <a:xfrm>
            <a:off x="841248" y="2212848"/>
            <a:ext cx="5102352" cy="1581911"/>
          </a:xfrm>
          <a:prstGeom prst="rect">
            <a:avLst/>
          </a:prstGeom>
          <a:noFill/>
        </p:spPr>
        <p:txBody>
          <a:bodyPr wrap="square">
            <a:spAutoFit/>
          </a:bodyPr>
          <a:lstStyle/>
          <a:p>
            <a:pPr algn="l"/>
            <a:r>
              <a:rPr sz="1200" b="0" i="0">
                <a:solidFill>
                  <a:srgbClr val="0F172A"/>
                </a:solidFill>
                <a:latin typeface="Calibri"/>
              </a:rPr>
              <a:t>The internal processes by which an organisation managing or developing an AI system documents its decisions, manages its risks, and ensures accountability for the system's behaviour.</a:t>
            </a:r>
          </a:p>
        </p:txBody>
      </p:sp>
      <p:sp>
        <p:nvSpPr>
          <p:cNvPr id="15" name="TextBox 14"/>
          <p:cNvSpPr txBox="1"/>
          <p:nvPr/>
        </p:nvSpPr>
        <p:spPr>
          <a:xfrm>
            <a:off x="841248" y="3739895"/>
            <a:ext cx="5102352" cy="228600"/>
          </a:xfrm>
          <a:prstGeom prst="rect">
            <a:avLst/>
          </a:prstGeom>
          <a:noFill/>
        </p:spPr>
        <p:txBody>
          <a:bodyPr wrap="square">
            <a:spAutoFit/>
          </a:bodyPr>
          <a:lstStyle/>
          <a:p>
            <a:pPr algn="l"/>
            <a:r>
              <a:rPr sz="1100" b="0" i="1">
                <a:solidFill>
                  <a:srgbClr val="64748B"/>
                </a:solidFill>
                <a:latin typeface="Calibri"/>
              </a:rPr>
              <a:t>AI/ML governance lens</a:t>
            </a:r>
          </a:p>
        </p:txBody>
      </p:sp>
      <p:sp>
        <p:nvSpPr>
          <p:cNvPr id="16" name="Rectangle 15"/>
          <p:cNvSpPr/>
          <p:nvPr/>
        </p:nvSpPr>
        <p:spPr>
          <a:xfrm>
            <a:off x="6263640" y="2121408"/>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121408"/>
            <a:ext cx="64008" cy="187451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73368" y="2231136"/>
            <a:ext cx="292608" cy="2926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2231136"/>
            <a:ext cx="292608" cy="292608"/>
          </a:xfrm>
          <a:prstGeom prst="rect">
            <a:avLst/>
          </a:prstGeom>
          <a:noFill/>
        </p:spPr>
        <p:txBody>
          <a:bodyPr wrap="square" anchor="ctr"/>
          <a:lstStyle/>
          <a:p>
            <a:pPr algn="ctr"/>
            <a:r>
              <a:rPr sz="1200" b="1" i="0">
                <a:solidFill>
                  <a:srgbClr val="FFFFFF"/>
                </a:solidFill>
                <a:latin typeface="Calibri"/>
              </a:rPr>
              <a:t>B</a:t>
            </a:r>
          </a:p>
        </p:txBody>
      </p:sp>
      <p:sp>
        <p:nvSpPr>
          <p:cNvPr id="20" name="TextBox 19"/>
          <p:cNvSpPr txBox="1"/>
          <p:nvPr/>
        </p:nvSpPr>
        <p:spPr>
          <a:xfrm>
            <a:off x="6739127" y="2212848"/>
            <a:ext cx="5102352" cy="1581911"/>
          </a:xfrm>
          <a:prstGeom prst="rect">
            <a:avLst/>
          </a:prstGeom>
          <a:noFill/>
        </p:spPr>
        <p:txBody>
          <a:bodyPr wrap="square">
            <a:spAutoFit/>
          </a:bodyPr>
          <a:lstStyle/>
          <a:p>
            <a:pPr algn="l"/>
            <a:r>
              <a:rPr sz="1200" b="0" i="0">
                <a:solidFill>
                  <a:srgbClr val="0F172A"/>
                </a:solidFill>
                <a:latin typeface="Calibri"/>
              </a:rPr>
              <a:t>The set of laws, regulations, and oversight bodies that authorise, constrain, and audit the deployment of AI in health, including data protection, model approval, and post-market surveillance.</a:t>
            </a:r>
          </a:p>
        </p:txBody>
      </p:sp>
      <p:sp>
        <p:nvSpPr>
          <p:cNvPr id="21" name="TextBox 20"/>
          <p:cNvSpPr txBox="1"/>
          <p:nvPr/>
        </p:nvSpPr>
        <p:spPr>
          <a:xfrm>
            <a:off x="6739127" y="3739895"/>
            <a:ext cx="5102352" cy="228600"/>
          </a:xfrm>
          <a:prstGeom prst="rect">
            <a:avLst/>
          </a:prstGeom>
          <a:noFill/>
        </p:spPr>
        <p:txBody>
          <a:bodyPr wrap="square">
            <a:spAutoFit/>
          </a:bodyPr>
          <a:lstStyle/>
          <a:p>
            <a:pPr algn="l"/>
            <a:r>
              <a:rPr sz="1100" b="0" i="1">
                <a:solidFill>
                  <a:srgbClr val="64748B"/>
                </a:solidFill>
                <a:latin typeface="Calibri"/>
              </a:rPr>
              <a:t>Regulatory lens</a:t>
            </a:r>
          </a:p>
        </p:txBody>
      </p:sp>
      <p:sp>
        <p:nvSpPr>
          <p:cNvPr id="22" name="Rectangle 21"/>
          <p:cNvSpPr/>
          <p:nvPr/>
        </p:nvSpPr>
        <p:spPr>
          <a:xfrm>
            <a:off x="36576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187952"/>
            <a:ext cx="64008" cy="187451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 y="4297680"/>
            <a:ext cx="292608"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297680"/>
            <a:ext cx="292608" cy="292608"/>
          </a:xfrm>
          <a:prstGeom prst="rect">
            <a:avLst/>
          </a:prstGeom>
          <a:noFill/>
        </p:spPr>
        <p:txBody>
          <a:bodyPr wrap="square" anchor="ctr"/>
          <a:lstStyle/>
          <a:p>
            <a:pPr algn="ctr"/>
            <a:r>
              <a:rPr sz="1200" b="1" i="0">
                <a:solidFill>
                  <a:srgbClr val="FFFFFF"/>
                </a:solidFill>
                <a:latin typeface="Calibri"/>
              </a:rPr>
              <a:t>C</a:t>
            </a:r>
          </a:p>
        </p:txBody>
      </p:sp>
      <p:sp>
        <p:nvSpPr>
          <p:cNvPr id="26" name="TextBox 25"/>
          <p:cNvSpPr txBox="1"/>
          <p:nvPr/>
        </p:nvSpPr>
        <p:spPr>
          <a:xfrm>
            <a:off x="841248" y="4279392"/>
            <a:ext cx="5102352" cy="1581911"/>
          </a:xfrm>
          <a:prstGeom prst="rect">
            <a:avLst/>
          </a:prstGeom>
          <a:noFill/>
        </p:spPr>
        <p:txBody>
          <a:bodyPr wrap="square">
            <a:spAutoFit/>
          </a:bodyPr>
          <a:lstStyle/>
          <a:p>
            <a:pPr algn="l"/>
            <a:r>
              <a:rPr sz="1200" b="0" i="0">
                <a:solidFill>
                  <a:srgbClr val="0F172A"/>
                </a:solidFill>
                <a:latin typeface="Calibri"/>
              </a:rPr>
              <a:t>Government ownership and public stewardship of the foundational digital architecture that determines what AI can be built on, who controls it, and who benefits from it over time.</a:t>
            </a:r>
          </a:p>
        </p:txBody>
      </p:sp>
      <p:sp>
        <p:nvSpPr>
          <p:cNvPr id="27" name="TextBox 26"/>
          <p:cNvSpPr txBox="1"/>
          <p:nvPr/>
        </p:nvSpPr>
        <p:spPr>
          <a:xfrm>
            <a:off x="841248" y="5806440"/>
            <a:ext cx="5102352" cy="228600"/>
          </a:xfrm>
          <a:prstGeom prst="rect">
            <a:avLst/>
          </a:prstGeom>
          <a:noFill/>
        </p:spPr>
        <p:txBody>
          <a:bodyPr wrap="square">
            <a:spAutoFit/>
          </a:bodyPr>
          <a:lstStyle/>
          <a:p>
            <a:pPr algn="l"/>
            <a:r>
              <a:rPr sz="1100" b="0" i="1">
                <a:solidFill>
                  <a:srgbClr val="64748B"/>
                </a:solidFill>
                <a:latin typeface="Calibri"/>
              </a:rPr>
              <a:t>Data sovereignty lens</a:t>
            </a:r>
          </a:p>
        </p:txBody>
      </p:sp>
      <p:sp>
        <p:nvSpPr>
          <p:cNvPr id="28" name="Rectangle 27"/>
          <p:cNvSpPr/>
          <p:nvPr/>
        </p:nvSpPr>
        <p:spPr>
          <a:xfrm>
            <a:off x="6263640" y="4187952"/>
            <a:ext cx="5669280" cy="187451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187952"/>
            <a:ext cx="64008" cy="187451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73368" y="4297680"/>
            <a:ext cx="292608"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73368" y="4297680"/>
            <a:ext cx="292608" cy="292608"/>
          </a:xfrm>
          <a:prstGeom prst="rect">
            <a:avLst/>
          </a:prstGeom>
          <a:noFill/>
        </p:spPr>
        <p:txBody>
          <a:bodyPr wrap="square" anchor="ctr"/>
          <a:lstStyle/>
          <a:p>
            <a:pPr algn="ctr"/>
            <a:r>
              <a:rPr sz="1200" b="1" i="0">
                <a:solidFill>
                  <a:srgbClr val="FFFFFF"/>
                </a:solidFill>
                <a:latin typeface="Calibri"/>
              </a:rPr>
              <a:t>D</a:t>
            </a:r>
          </a:p>
        </p:txBody>
      </p:sp>
      <p:sp>
        <p:nvSpPr>
          <p:cNvPr id="32" name="TextBox 31"/>
          <p:cNvSpPr txBox="1"/>
          <p:nvPr/>
        </p:nvSpPr>
        <p:spPr>
          <a:xfrm>
            <a:off x="6739127" y="4279392"/>
            <a:ext cx="5102352" cy="1581911"/>
          </a:xfrm>
          <a:prstGeom prst="rect">
            <a:avLst/>
          </a:prstGeom>
          <a:noFill/>
        </p:spPr>
        <p:txBody>
          <a:bodyPr wrap="square">
            <a:spAutoFit/>
          </a:bodyPr>
          <a:lstStyle/>
          <a:p>
            <a:pPr algn="l"/>
            <a:r>
              <a:rPr sz="1200" b="0" i="0">
                <a:solidFill>
                  <a:srgbClr val="0F172A"/>
                </a:solidFill>
                <a:latin typeface="Calibri"/>
              </a:rPr>
              <a:t>The framework of policies, ethical principles, transparency requirements, and consent mechanisms that ensure AI in health respects rights, prevents harm, and operates within publicly accountable boundaries.</a:t>
            </a:r>
          </a:p>
        </p:txBody>
      </p:sp>
      <p:sp>
        <p:nvSpPr>
          <p:cNvPr id="33" name="TextBox 32"/>
          <p:cNvSpPr txBox="1"/>
          <p:nvPr/>
        </p:nvSpPr>
        <p:spPr>
          <a:xfrm>
            <a:off x="6739127" y="5806440"/>
            <a:ext cx="5102352" cy="228600"/>
          </a:xfrm>
          <a:prstGeom prst="rect">
            <a:avLst/>
          </a:prstGeom>
          <a:noFill/>
        </p:spPr>
        <p:txBody>
          <a:bodyPr wrap="square">
            <a:spAutoFit/>
          </a:bodyPr>
          <a:lstStyle/>
          <a:p>
            <a:pPr algn="l"/>
            <a:r>
              <a:rPr sz="1100" b="0" i="1">
                <a:solidFill>
                  <a:srgbClr val="64748B"/>
                </a:solidFill>
                <a:latin typeface="Calibri"/>
              </a:rPr>
              <a:t>Ethics lens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AI GOVERNANCE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Exercises 2 &amp; 3 — Scenario and Lightning Vote</a:t>
            </a:r>
          </a:p>
        </p:txBody>
      </p:sp>
      <p:sp>
        <p:nvSpPr>
          <p:cNvPr id="6" name="Rectangle 5"/>
          <p:cNvSpPr/>
          <p:nvPr/>
        </p:nvSpPr>
        <p:spPr>
          <a:xfrm>
            <a:off x="365760" y="960120"/>
            <a:ext cx="54864" cy="4937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60120"/>
            <a:ext cx="5303520" cy="292608"/>
          </a:xfrm>
          <a:prstGeom prst="rect">
            <a:avLst/>
          </a:prstGeom>
          <a:noFill/>
        </p:spPr>
        <p:txBody>
          <a:bodyPr wrap="square">
            <a:spAutoFit/>
          </a:bodyPr>
          <a:lstStyle/>
          <a:p>
            <a:pPr algn="l"/>
            <a:r>
              <a:rPr sz="1100" b="1" i="0">
                <a:solidFill>
                  <a:srgbClr val="2563EB"/>
                </a:solidFill>
                <a:latin typeface="Calibri"/>
              </a:rPr>
              <a:t>EXERCISE 2 — SCENARIO</a:t>
            </a:r>
          </a:p>
        </p:txBody>
      </p:sp>
      <p:sp>
        <p:nvSpPr>
          <p:cNvPr id="8" name="Rectangle 7"/>
          <p:cNvSpPr/>
          <p:nvPr/>
        </p:nvSpPr>
        <p:spPr>
          <a:xfrm>
            <a:off x="365760" y="1316736"/>
            <a:ext cx="5486400" cy="201168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16736"/>
            <a:ext cx="54864" cy="201168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426464"/>
            <a:ext cx="53035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11" name="TextBox 10"/>
          <p:cNvSpPr txBox="1"/>
          <p:nvPr/>
        </p:nvSpPr>
        <p:spPr>
          <a:xfrm>
            <a:off x="502920" y="1664207"/>
            <a:ext cx="5303520" cy="1572768"/>
          </a:xfrm>
          <a:prstGeom prst="rect">
            <a:avLst/>
          </a:prstGeom>
          <a:noFill/>
        </p:spPr>
        <p:txBody>
          <a:bodyPr wrap="square">
            <a:spAutoFit/>
          </a:bodyPr>
          <a:lstStyle/>
          <a:p>
            <a:pPr algn="l"/>
            <a:r>
              <a:rPr sz="1200" b="0" i="0">
                <a:solidFill>
                  <a:srgbClr val="FFFFFF"/>
                </a:solidFill>
                <a:latin typeface="Calibri"/>
              </a:rPr>
              <a:t>Your organisation supports a national AI program for maternal health in a country. Over three years, the program generates a large dataset of labelled clinical interactions, outcome data, and patient records. The vendor that built and hosts the AI tool uses this data to train an improved global model, licensed commercially to health systems in other countries. The data sharing agreement signed at the start of the program permitted the vendor to use anonymised data for model improvement, but made no distinction between internal improvement and commercial application.</a:t>
            </a:r>
          </a:p>
        </p:txBody>
      </p:sp>
      <p:sp>
        <p:nvSpPr>
          <p:cNvPr id="12" name="TextBox 11"/>
          <p:cNvSpPr txBox="1"/>
          <p:nvPr/>
        </p:nvSpPr>
        <p:spPr>
          <a:xfrm>
            <a:off x="365760" y="3401568"/>
            <a:ext cx="5486400" cy="384048"/>
          </a:xfrm>
          <a:prstGeom prst="rect">
            <a:avLst/>
          </a:prstGeom>
          <a:noFill/>
        </p:spPr>
        <p:txBody>
          <a:bodyPr wrap="square">
            <a:spAutoFit/>
          </a:bodyPr>
          <a:lstStyle/>
          <a:p>
            <a:pPr algn="l"/>
            <a:r>
              <a:rPr sz="1500" b="1" i="0">
                <a:solidFill>
                  <a:srgbClr val="1A2857"/>
                </a:solidFill>
                <a:latin typeface="Calibri"/>
              </a:rPr>
              <a:t>Is this an AI governance failure?</a:t>
            </a:r>
          </a:p>
        </p:txBody>
      </p:sp>
      <p:sp>
        <p:nvSpPr>
          <p:cNvPr id="13" name="Rectangle 12"/>
          <p:cNvSpPr/>
          <p:nvPr/>
        </p:nvSpPr>
        <p:spPr>
          <a:xfrm>
            <a:off x="365760" y="3858768"/>
            <a:ext cx="54864" cy="5669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3858768"/>
            <a:ext cx="256032" cy="566928"/>
          </a:xfrm>
          <a:prstGeom prst="rect">
            <a:avLst/>
          </a:prstGeom>
          <a:noFill/>
        </p:spPr>
        <p:txBody>
          <a:bodyPr wrap="square" anchor="ctr"/>
          <a:lstStyle/>
          <a:p>
            <a:pPr algn="l"/>
            <a:r>
              <a:rPr sz="1300" b="1" i="0">
                <a:solidFill>
                  <a:srgbClr val="2563EB"/>
                </a:solidFill>
                <a:latin typeface="Calibri"/>
              </a:rPr>
              <a:t>A</a:t>
            </a:r>
          </a:p>
        </p:txBody>
      </p:sp>
      <p:sp>
        <p:nvSpPr>
          <p:cNvPr id="15" name="TextBox 14"/>
          <p:cNvSpPr txBox="1"/>
          <p:nvPr/>
        </p:nvSpPr>
        <p:spPr>
          <a:xfrm>
            <a:off x="768096" y="3858768"/>
            <a:ext cx="5029200" cy="566928"/>
          </a:xfrm>
          <a:prstGeom prst="rect">
            <a:avLst/>
          </a:prstGeom>
          <a:noFill/>
        </p:spPr>
        <p:txBody>
          <a:bodyPr wrap="square" anchor="ctr"/>
          <a:lstStyle/>
          <a:p>
            <a:pPr algn="l"/>
            <a:r>
              <a:rPr sz="1300" b="0" i="0">
                <a:solidFill>
                  <a:srgbClr val="0F172A"/>
                </a:solidFill>
                <a:latin typeface="Calibri"/>
              </a:rPr>
              <a:t>Yes — the vendor exploited a data sharing clause that the Ministry did not intend to include commercial use.</a:t>
            </a:r>
          </a:p>
        </p:txBody>
      </p:sp>
      <p:sp>
        <p:nvSpPr>
          <p:cNvPr id="16" name="Rectangle 15"/>
          <p:cNvSpPr/>
          <p:nvPr/>
        </p:nvSpPr>
        <p:spPr>
          <a:xfrm>
            <a:off x="365760" y="4572000"/>
            <a:ext cx="54864"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4572000"/>
            <a:ext cx="256032" cy="566928"/>
          </a:xfrm>
          <a:prstGeom prst="rect">
            <a:avLst/>
          </a:prstGeom>
          <a:noFill/>
        </p:spPr>
        <p:txBody>
          <a:bodyPr wrap="square" anchor="ctr"/>
          <a:lstStyle/>
          <a:p>
            <a:pPr algn="l"/>
            <a:r>
              <a:rPr sz="1300" b="1" i="0">
                <a:solidFill>
                  <a:srgbClr val="7C3AED"/>
                </a:solidFill>
                <a:latin typeface="Calibri"/>
              </a:rPr>
              <a:t>B</a:t>
            </a:r>
          </a:p>
        </p:txBody>
      </p:sp>
      <p:sp>
        <p:nvSpPr>
          <p:cNvPr id="18" name="TextBox 17"/>
          <p:cNvSpPr txBox="1"/>
          <p:nvPr/>
        </p:nvSpPr>
        <p:spPr>
          <a:xfrm>
            <a:off x="768096" y="4572000"/>
            <a:ext cx="5029200" cy="566928"/>
          </a:xfrm>
          <a:prstGeom prst="rect">
            <a:avLst/>
          </a:prstGeom>
          <a:noFill/>
        </p:spPr>
        <p:txBody>
          <a:bodyPr wrap="square" anchor="ctr"/>
          <a:lstStyle/>
          <a:p>
            <a:pPr algn="l"/>
            <a:r>
              <a:rPr sz="1300" b="0" i="0">
                <a:solidFill>
                  <a:srgbClr val="0F172A"/>
                </a:solidFill>
                <a:latin typeface="Calibri"/>
              </a:rPr>
              <a:t>Yes — but the failure was upstream, in the absence of a national framework that could have classified training data as a sovereign asset.</a:t>
            </a:r>
          </a:p>
        </p:txBody>
      </p:sp>
      <p:sp>
        <p:nvSpPr>
          <p:cNvPr id="19" name="Rectangle 18"/>
          <p:cNvSpPr/>
          <p:nvPr/>
        </p:nvSpPr>
        <p:spPr>
          <a:xfrm>
            <a:off x="365760" y="5285231"/>
            <a:ext cx="54864" cy="5669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5285231"/>
            <a:ext cx="256032" cy="566928"/>
          </a:xfrm>
          <a:prstGeom prst="rect">
            <a:avLst/>
          </a:prstGeom>
          <a:noFill/>
        </p:spPr>
        <p:txBody>
          <a:bodyPr wrap="square" anchor="ctr"/>
          <a:lstStyle/>
          <a:p>
            <a:pPr algn="l"/>
            <a:r>
              <a:rPr sz="1300" b="1" i="0">
                <a:solidFill>
                  <a:srgbClr val="059669"/>
                </a:solidFill>
                <a:latin typeface="Calibri"/>
              </a:rPr>
              <a:t>C</a:t>
            </a:r>
          </a:p>
        </p:txBody>
      </p:sp>
      <p:sp>
        <p:nvSpPr>
          <p:cNvPr id="21" name="TextBox 20"/>
          <p:cNvSpPr txBox="1"/>
          <p:nvPr/>
        </p:nvSpPr>
        <p:spPr>
          <a:xfrm>
            <a:off x="768096" y="5285231"/>
            <a:ext cx="5029200" cy="566928"/>
          </a:xfrm>
          <a:prstGeom prst="rect">
            <a:avLst/>
          </a:prstGeom>
          <a:noFill/>
        </p:spPr>
        <p:txBody>
          <a:bodyPr wrap="square" anchor="ctr"/>
          <a:lstStyle/>
          <a:p>
            <a:pPr algn="l"/>
            <a:r>
              <a:rPr sz="1300" b="0" i="0">
                <a:solidFill>
                  <a:srgbClr val="0F172A"/>
                </a:solidFill>
                <a:latin typeface="Calibri"/>
              </a:rPr>
              <a:t>No — the data sharing agreement was signed and complied with. This is a contracting failure, not a governance one.</a:t>
            </a:r>
          </a:p>
        </p:txBody>
      </p:sp>
      <p:sp>
        <p:nvSpPr>
          <p:cNvPr id="22" name="Rectangle 21"/>
          <p:cNvSpPr/>
          <p:nvPr/>
        </p:nvSpPr>
        <p:spPr>
          <a:xfrm>
            <a:off x="6126480" y="960120"/>
            <a:ext cx="36576" cy="53949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960120"/>
            <a:ext cx="54864" cy="4937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960120"/>
            <a:ext cx="5303520" cy="292608"/>
          </a:xfrm>
          <a:prstGeom prst="rect">
            <a:avLst/>
          </a:prstGeom>
          <a:noFill/>
        </p:spPr>
        <p:txBody>
          <a:bodyPr wrap="square">
            <a:spAutoFit/>
          </a:bodyPr>
          <a:lstStyle/>
          <a:p>
            <a:pPr algn="l"/>
            <a:r>
              <a:rPr sz="1100" b="1" i="0">
                <a:solidFill>
                  <a:srgbClr val="D97706"/>
                </a:solidFill>
                <a:latin typeface="Calibri"/>
              </a:rPr>
              <a:t>EXERCISE 3 — LIGHTNING VOTE</a:t>
            </a:r>
          </a:p>
        </p:txBody>
      </p:sp>
      <p:sp>
        <p:nvSpPr>
          <p:cNvPr id="25" name="TextBox 24"/>
          <p:cNvSpPr txBox="1"/>
          <p:nvPr/>
        </p:nvSpPr>
        <p:spPr>
          <a:xfrm>
            <a:off x="6263640" y="1316736"/>
            <a:ext cx="5532120" cy="914400"/>
          </a:xfrm>
          <a:prstGeom prst="rect">
            <a:avLst/>
          </a:prstGeom>
          <a:noFill/>
        </p:spPr>
        <p:txBody>
          <a:bodyPr wrap="square">
            <a:spAutoFit/>
          </a:bodyPr>
          <a:lstStyle/>
          <a:p>
            <a:pPr algn="l"/>
            <a:r>
              <a:rPr sz="1600" b="1" i="0">
                <a:solidFill>
                  <a:srgbClr val="1A2857"/>
                </a:solidFill>
                <a:latin typeface="Calibri"/>
              </a:rPr>
              <a:t>When we say AI governance, the primary subject should be:</a:t>
            </a:r>
          </a:p>
        </p:txBody>
      </p:sp>
      <p:sp>
        <p:nvSpPr>
          <p:cNvPr id="26" name="Rectangle 25"/>
          <p:cNvSpPr/>
          <p:nvPr/>
        </p:nvSpPr>
        <p:spPr>
          <a:xfrm>
            <a:off x="6263640"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2359152"/>
            <a:ext cx="256032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2487168"/>
            <a:ext cx="2560320" cy="502920"/>
          </a:xfrm>
          <a:prstGeom prst="rect">
            <a:avLst/>
          </a:prstGeom>
          <a:noFill/>
        </p:spPr>
        <p:txBody>
          <a:bodyPr wrap="square">
            <a:spAutoFit/>
          </a:bodyPr>
          <a:lstStyle/>
          <a:p>
            <a:pPr algn="ctr"/>
            <a:r>
              <a:rPr sz="2600" b="1" i="0">
                <a:solidFill>
                  <a:srgbClr val="2563EB"/>
                </a:solidFill>
                <a:latin typeface="Calibri"/>
              </a:rPr>
              <a:t>A</a:t>
            </a:r>
          </a:p>
        </p:txBody>
      </p:sp>
      <p:sp>
        <p:nvSpPr>
          <p:cNvPr id="29" name="TextBox 28"/>
          <p:cNvSpPr txBox="1"/>
          <p:nvPr/>
        </p:nvSpPr>
        <p:spPr>
          <a:xfrm>
            <a:off x="6373368" y="3017520"/>
            <a:ext cx="2340863" cy="1371600"/>
          </a:xfrm>
          <a:prstGeom prst="rect">
            <a:avLst/>
          </a:prstGeom>
          <a:noFill/>
        </p:spPr>
        <p:txBody>
          <a:bodyPr wrap="square">
            <a:spAutoFit/>
          </a:bodyPr>
          <a:lstStyle/>
          <a:p>
            <a:pPr algn="ctr"/>
            <a:r>
              <a:rPr sz="1400" b="0" i="0">
                <a:solidFill>
                  <a:srgbClr val="0F172A"/>
                </a:solidFill>
                <a:latin typeface="Calibri"/>
              </a:rPr>
              <a:t>The AI model and its behaviour.</a:t>
            </a:r>
          </a:p>
        </p:txBody>
      </p:sp>
      <p:sp>
        <p:nvSpPr>
          <p:cNvPr id="30" name="Rectangle 29"/>
          <p:cNvSpPr/>
          <p:nvPr/>
        </p:nvSpPr>
        <p:spPr>
          <a:xfrm>
            <a:off x="9052559" y="2359152"/>
            <a:ext cx="2560320" cy="24688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52559" y="2359152"/>
            <a:ext cx="256032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59" y="2487168"/>
            <a:ext cx="2560320" cy="502920"/>
          </a:xfrm>
          <a:prstGeom prst="rect">
            <a:avLst/>
          </a:prstGeom>
          <a:noFill/>
        </p:spPr>
        <p:txBody>
          <a:bodyPr wrap="square">
            <a:spAutoFit/>
          </a:bodyPr>
          <a:lstStyle/>
          <a:p>
            <a:pPr algn="ctr"/>
            <a:r>
              <a:rPr sz="2600" b="1" i="0">
                <a:solidFill>
                  <a:srgbClr val="7C3AED"/>
                </a:solidFill>
                <a:latin typeface="Calibri"/>
              </a:rPr>
              <a:t>B</a:t>
            </a:r>
          </a:p>
        </p:txBody>
      </p:sp>
      <p:sp>
        <p:nvSpPr>
          <p:cNvPr id="33" name="TextBox 32"/>
          <p:cNvSpPr txBox="1"/>
          <p:nvPr/>
        </p:nvSpPr>
        <p:spPr>
          <a:xfrm>
            <a:off x="9162287" y="3017520"/>
            <a:ext cx="2340863" cy="1371600"/>
          </a:xfrm>
          <a:prstGeom prst="rect">
            <a:avLst/>
          </a:prstGeom>
          <a:noFill/>
        </p:spPr>
        <p:txBody>
          <a:bodyPr wrap="square">
            <a:spAutoFit/>
          </a:bodyPr>
          <a:lstStyle/>
          <a:p>
            <a:pPr algn="ctr"/>
            <a:r>
              <a:rPr sz="1400" b="0" i="0">
                <a:solidFill>
                  <a:srgbClr val="0F172A"/>
                </a:solidFill>
                <a:latin typeface="Calibri"/>
              </a:rPr>
              <a:t>The data and digital infrastructure the AI runs on.</a:t>
            </a:r>
          </a:p>
        </p:txBody>
      </p:sp>
      <p:sp>
        <p:nvSpPr>
          <p:cNvPr id="34" name="Rectangle 33"/>
          <p:cNvSpPr/>
          <p:nvPr/>
        </p:nvSpPr>
        <p:spPr>
          <a:xfrm>
            <a:off x="6263640" y="4983480"/>
            <a:ext cx="5532120" cy="1600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63640" y="4983480"/>
            <a:ext cx="54864" cy="16002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5029200"/>
            <a:ext cx="5212080" cy="292608"/>
          </a:xfrm>
          <a:prstGeom prst="rect">
            <a:avLst/>
          </a:prstGeom>
          <a:noFill/>
        </p:spPr>
        <p:txBody>
          <a:bodyPr wrap="square">
            <a:spAutoFit/>
          </a:bodyPr>
          <a:lstStyle/>
          <a:p>
            <a:pPr algn="l"/>
            <a:r>
              <a:rPr sz="1000" b="1" i="0">
                <a:solidFill>
                  <a:srgbClr val="1A2857"/>
                </a:solidFill>
                <a:latin typeface="Calibri"/>
              </a:rPr>
              <a:t>DISCUSSION PROMPTS FOR PANELISTS</a:t>
            </a:r>
          </a:p>
        </p:txBody>
      </p:sp>
      <p:sp>
        <p:nvSpPr>
          <p:cNvPr id="37" name="TextBox 36"/>
          <p:cNvSpPr txBox="1"/>
          <p:nvPr/>
        </p:nvSpPr>
        <p:spPr>
          <a:xfrm>
            <a:off x="6446520" y="5367528"/>
            <a:ext cx="5212080" cy="365760"/>
          </a:xfrm>
          <a:prstGeom prst="rect">
            <a:avLst/>
          </a:prstGeom>
          <a:noFill/>
        </p:spPr>
        <p:txBody>
          <a:bodyPr wrap="square">
            <a:spAutoFit/>
          </a:bodyPr>
          <a:lstStyle/>
          <a:p>
            <a:pPr algn="l"/>
            <a:r>
              <a:rPr sz="1100" b="0" i="0">
                <a:solidFill>
                  <a:srgbClr val="64748B"/>
                </a:solidFill>
                <a:latin typeface="Calibri"/>
              </a:rPr>
              <a:t>• This issue only exists because the data was used to train a model that creates commercial value elsewhere. Does AI gover…</a:t>
            </a:r>
          </a:p>
        </p:txBody>
      </p:sp>
      <p:sp>
        <p:nvSpPr>
          <p:cNvPr id="38" name="TextBox 37"/>
          <p:cNvSpPr txBox="1"/>
          <p:nvPr/>
        </p:nvSpPr>
        <p:spPr>
          <a:xfrm>
            <a:off x="6446520" y="5769864"/>
            <a:ext cx="5212080" cy="365760"/>
          </a:xfrm>
          <a:prstGeom prst="rect">
            <a:avLst/>
          </a:prstGeom>
          <a:noFill/>
        </p:spPr>
        <p:txBody>
          <a:bodyPr wrap="square">
            <a:spAutoFit/>
          </a:bodyPr>
          <a:lstStyle/>
          <a:p>
            <a:pPr algn="l"/>
            <a:r>
              <a:rPr sz="1100" b="0" i="0">
                <a:solidFill>
                  <a:srgbClr val="64748B"/>
                </a:solidFill>
                <a:latin typeface="Calibri"/>
              </a:rPr>
              <a:t>• What is the difference between data protection (a legal concept most countries have frameworks for) and data sovereignty…</a:t>
            </a:r>
          </a:p>
        </p:txBody>
      </p:sp>
      <p:sp>
        <p:nvSpPr>
          <p:cNvPr id="39" name="TextBox 38"/>
          <p:cNvSpPr txBox="1"/>
          <p:nvPr/>
        </p:nvSpPr>
        <p:spPr>
          <a:xfrm>
            <a:off x="6446520" y="6172200"/>
            <a:ext cx="5212080" cy="365760"/>
          </a:xfrm>
          <a:prstGeom prst="rect">
            <a:avLst/>
          </a:prstGeom>
          <a:noFill/>
        </p:spPr>
        <p:txBody>
          <a:bodyPr wrap="square">
            <a:spAutoFit/>
          </a:bodyPr>
          <a:lstStyle/>
          <a:p>
            <a:pPr algn="l"/>
            <a:r>
              <a:rPr sz="1100" b="0" i="0">
                <a:solidFill>
                  <a:srgbClr val="64748B"/>
                </a:solidFill>
                <a:latin typeface="Calibri"/>
              </a:rPr>
              <a:t>• What role can implementing partners play in helping Ministries negotiate data terms that protect sovereign interests — 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11430000" cy="731520"/>
          </a:xfrm>
          <a:prstGeom prst="rect">
            <a:avLst/>
          </a:prstGeom>
          <a:noFill/>
        </p:spPr>
        <p:txBody>
          <a:bodyPr wrap="square" anchor="ctr"/>
          <a:lstStyle/>
          <a:p>
            <a:pPr algn="l"/>
            <a:r>
              <a:rPr sz="2000" b="1" i="0">
                <a:solidFill>
                  <a:srgbClr val="FFFFFF"/>
                </a:solidFill>
                <a:latin typeface="Calibri"/>
              </a:rPr>
              <a:t>Preparing for the Session</a:t>
            </a:r>
          </a:p>
        </p:txBody>
      </p:sp>
      <p:sp>
        <p:nvSpPr>
          <p:cNvPr id="4" name="Rectangle 3"/>
          <p:cNvSpPr/>
          <p:nvPr/>
        </p:nvSpPr>
        <p:spPr>
          <a:xfrm>
            <a:off x="365760" y="1005840"/>
            <a:ext cx="54864"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51560"/>
            <a:ext cx="4114800" cy="347472"/>
          </a:xfrm>
          <a:prstGeom prst="rect">
            <a:avLst/>
          </a:prstGeom>
          <a:noFill/>
        </p:spPr>
        <p:txBody>
          <a:bodyPr wrap="square">
            <a:spAutoFit/>
          </a:bodyPr>
          <a:lstStyle/>
          <a:p>
            <a:pPr algn="l"/>
            <a:r>
              <a:rPr sz="1400" b="1" i="0">
                <a:solidFill>
                  <a:srgbClr val="1A2857"/>
                </a:solidFill>
                <a:latin typeface="Calibri"/>
              </a:rPr>
              <a:t>Skim each term section</a:t>
            </a:r>
          </a:p>
        </p:txBody>
      </p:sp>
      <p:sp>
        <p:nvSpPr>
          <p:cNvPr id="6" name="TextBox 5"/>
          <p:cNvSpPr txBox="1"/>
          <p:nvPr/>
        </p:nvSpPr>
        <p:spPr>
          <a:xfrm>
            <a:off x="548640" y="1417320"/>
            <a:ext cx="10972800" cy="502920"/>
          </a:xfrm>
          <a:prstGeom prst="rect">
            <a:avLst/>
          </a:prstGeom>
          <a:noFill/>
        </p:spPr>
        <p:txBody>
          <a:bodyPr wrap="square">
            <a:spAutoFit/>
          </a:bodyPr>
          <a:lstStyle/>
          <a:p>
            <a:pPr algn="l"/>
            <a:r>
              <a:rPr sz="1300" b="0" i="0">
                <a:solidFill>
                  <a:srgbClr val="64748B"/>
                </a:solidFill>
                <a:latin typeface="Calibri"/>
              </a:rPr>
              <a:t>Read the concept, the ambiguity framing, and the key question for each of the six terms. You don't need to prepare formal remarks.</a:t>
            </a:r>
          </a:p>
        </p:txBody>
      </p:sp>
      <p:sp>
        <p:nvSpPr>
          <p:cNvPr id="7" name="Rectangle 6"/>
          <p:cNvSpPr/>
          <p:nvPr/>
        </p:nvSpPr>
        <p:spPr>
          <a:xfrm>
            <a:off x="365760" y="2103120"/>
            <a:ext cx="54864"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48839"/>
            <a:ext cx="4114800" cy="347472"/>
          </a:xfrm>
          <a:prstGeom prst="rect">
            <a:avLst/>
          </a:prstGeom>
          <a:noFill/>
        </p:spPr>
        <p:txBody>
          <a:bodyPr wrap="square">
            <a:spAutoFit/>
          </a:bodyPr>
          <a:lstStyle/>
          <a:p>
            <a:pPr algn="l"/>
            <a:r>
              <a:rPr sz="1400" b="1" i="0">
                <a:solidFill>
                  <a:srgbClr val="1A2857"/>
                </a:solidFill>
                <a:latin typeface="Calibri"/>
              </a:rPr>
              <a:t>Think about your own context</a:t>
            </a:r>
          </a:p>
        </p:txBody>
      </p:sp>
      <p:sp>
        <p:nvSpPr>
          <p:cNvPr id="9" name="TextBox 8"/>
          <p:cNvSpPr txBox="1"/>
          <p:nvPr/>
        </p:nvSpPr>
        <p:spPr>
          <a:xfrm>
            <a:off x="548640" y="2514600"/>
            <a:ext cx="10972800" cy="502920"/>
          </a:xfrm>
          <a:prstGeom prst="rect">
            <a:avLst/>
          </a:prstGeom>
          <a:noFill/>
        </p:spPr>
        <p:txBody>
          <a:bodyPr wrap="square">
            <a:spAutoFit/>
          </a:bodyPr>
          <a:lstStyle/>
          <a:p>
            <a:pPr algn="l"/>
            <a:r>
              <a:rPr sz="1300" b="0" i="0">
                <a:solidFill>
                  <a:srgbClr val="64748B"/>
                </a:solidFill>
                <a:latin typeface="Calibri"/>
              </a:rPr>
              <a:t>For each term, consider: have you encountered this in your work? Where has the definition mattered? Where has it caused confusion or friction?</a:t>
            </a:r>
          </a:p>
        </p:txBody>
      </p:sp>
      <p:sp>
        <p:nvSpPr>
          <p:cNvPr id="10" name="Rectangle 9"/>
          <p:cNvSpPr/>
          <p:nvPr/>
        </p:nvSpPr>
        <p:spPr>
          <a:xfrm>
            <a:off x="365760" y="3200400"/>
            <a:ext cx="54864" cy="914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4114800" cy="347472"/>
          </a:xfrm>
          <a:prstGeom prst="rect">
            <a:avLst/>
          </a:prstGeom>
          <a:noFill/>
        </p:spPr>
        <p:txBody>
          <a:bodyPr wrap="square">
            <a:spAutoFit/>
          </a:bodyPr>
          <a:lstStyle/>
          <a:p>
            <a:pPr algn="l"/>
            <a:r>
              <a:rPr sz="1400" b="1" i="0">
                <a:solidFill>
                  <a:srgbClr val="1A2857"/>
                </a:solidFill>
                <a:latin typeface="Calibri"/>
              </a:rPr>
              <a:t>Scenarios are the richest territory</a:t>
            </a:r>
          </a:p>
        </p:txBody>
      </p:sp>
      <p:sp>
        <p:nvSpPr>
          <p:cNvPr id="12" name="TextBox 11"/>
          <p:cNvSpPr txBox="1"/>
          <p:nvPr/>
        </p:nvSpPr>
        <p:spPr>
          <a:xfrm>
            <a:off x="548640" y="3611880"/>
            <a:ext cx="10972800" cy="502920"/>
          </a:xfrm>
          <a:prstGeom prst="rect">
            <a:avLst/>
          </a:prstGeom>
          <a:noFill/>
        </p:spPr>
        <p:txBody>
          <a:bodyPr wrap="square">
            <a:spAutoFit/>
          </a:bodyPr>
          <a:lstStyle/>
          <a:p>
            <a:pPr algn="l"/>
            <a:r>
              <a:rPr sz="1300" b="0" i="0">
                <a:solidFill>
                  <a:srgbClr val="64748B"/>
                </a:solidFill>
                <a:latin typeface="Calibri"/>
              </a:rPr>
              <a:t>The scenario exercises are where definitions get stress-tested. Think about analogous cases from your own experience you could reference.</a:t>
            </a:r>
          </a:p>
        </p:txBody>
      </p:sp>
      <p:sp>
        <p:nvSpPr>
          <p:cNvPr id="13" name="Rectangle 12"/>
          <p:cNvSpPr/>
          <p:nvPr/>
        </p:nvSpPr>
        <p:spPr>
          <a:xfrm>
            <a:off x="365760" y="4297679"/>
            <a:ext cx="54864" cy="914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343399"/>
            <a:ext cx="4114800" cy="347472"/>
          </a:xfrm>
          <a:prstGeom prst="rect">
            <a:avLst/>
          </a:prstGeom>
          <a:noFill/>
        </p:spPr>
        <p:txBody>
          <a:bodyPr wrap="square">
            <a:spAutoFit/>
          </a:bodyPr>
          <a:lstStyle/>
          <a:p>
            <a:pPr algn="l"/>
            <a:r>
              <a:rPr sz="1400" b="1" i="0">
                <a:solidFill>
                  <a:srgbClr val="1A2857"/>
                </a:solidFill>
                <a:latin typeface="Calibri"/>
              </a:rPr>
              <a:t>You don't need to agree</a:t>
            </a:r>
          </a:p>
        </p:txBody>
      </p:sp>
      <p:sp>
        <p:nvSpPr>
          <p:cNvPr id="15" name="TextBox 14"/>
          <p:cNvSpPr txBox="1"/>
          <p:nvPr/>
        </p:nvSpPr>
        <p:spPr>
          <a:xfrm>
            <a:off x="548640" y="4709159"/>
            <a:ext cx="10972800" cy="502920"/>
          </a:xfrm>
          <a:prstGeom prst="rect">
            <a:avLst/>
          </a:prstGeom>
          <a:noFill/>
        </p:spPr>
        <p:txBody>
          <a:bodyPr wrap="square">
            <a:spAutoFit/>
          </a:bodyPr>
          <a:lstStyle/>
          <a:p>
            <a:pPr algn="l"/>
            <a:r>
              <a:rPr sz="1300" b="0" i="0">
                <a:solidFill>
                  <a:srgbClr val="64748B"/>
                </a:solidFill>
                <a:latin typeface="Calibri"/>
              </a:rPr>
              <a:t>Disagreement between panelists on the same question is exactly what makes this session valuable for the audience.</a:t>
            </a:r>
          </a:p>
        </p:txBody>
      </p:sp>
      <p:sp>
        <p:nvSpPr>
          <p:cNvPr id="16" name="Rectangle 15"/>
          <p:cNvSpPr/>
          <p:nvPr/>
        </p:nvSpPr>
        <p:spPr>
          <a:xfrm>
            <a:off x="365760" y="5394960"/>
            <a:ext cx="54864"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440680"/>
            <a:ext cx="4114800" cy="347472"/>
          </a:xfrm>
          <a:prstGeom prst="rect">
            <a:avLst/>
          </a:prstGeom>
          <a:noFill/>
        </p:spPr>
        <p:txBody>
          <a:bodyPr wrap="square">
            <a:spAutoFit/>
          </a:bodyPr>
          <a:lstStyle/>
          <a:p>
            <a:pPr algn="l"/>
            <a:r>
              <a:rPr sz="1400" b="1" i="0">
                <a:solidFill>
                  <a:srgbClr val="1A2857"/>
                </a:solidFill>
                <a:latin typeface="Calibri"/>
              </a:rPr>
              <a:t>Lightning votes are conversation starters</a:t>
            </a:r>
          </a:p>
        </p:txBody>
      </p:sp>
      <p:sp>
        <p:nvSpPr>
          <p:cNvPr id="18" name="TextBox 17"/>
          <p:cNvSpPr txBox="1"/>
          <p:nvPr/>
        </p:nvSpPr>
        <p:spPr>
          <a:xfrm>
            <a:off x="548640" y="5806440"/>
            <a:ext cx="10972800" cy="502920"/>
          </a:xfrm>
          <a:prstGeom prst="rect">
            <a:avLst/>
          </a:prstGeom>
          <a:noFill/>
        </p:spPr>
        <p:txBody>
          <a:bodyPr wrap="square">
            <a:spAutoFit/>
          </a:bodyPr>
          <a:lstStyle/>
          <a:p>
            <a:pPr algn="l"/>
            <a:r>
              <a:rPr sz="1300" b="0" i="0">
                <a:solidFill>
                  <a:srgbClr val="64748B"/>
                </a:solidFill>
                <a:latin typeface="Calibri"/>
              </a:rPr>
              <a:t>The binary vote is intentionally provocative. The point is not the answer but the question it raises.</a:t>
            </a:r>
          </a:p>
        </p:txBody>
      </p:sp>
      <p:sp>
        <p:nvSpPr>
          <p:cNvPr id="19" name="Rectangle 18"/>
          <p:cNvSpPr/>
          <p:nvPr/>
        </p:nvSpPr>
        <p:spPr>
          <a:xfrm>
            <a:off x="0" y="6492240"/>
            <a:ext cx="12188952" cy="3657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10528"/>
            <a:ext cx="11430000" cy="274320"/>
          </a:xfrm>
          <a:prstGeom prst="rect">
            <a:avLst/>
          </a:prstGeom>
          <a:noFill/>
        </p:spPr>
        <p:txBody>
          <a:bodyPr wrap="square">
            <a:spAutoFit/>
          </a:bodyPr>
          <a:lstStyle/>
          <a:p>
            <a:pPr algn="l"/>
            <a:r>
              <a:rPr sz="1200" b="0" i="0">
                <a:solidFill>
                  <a:srgbClr val="AABBD6"/>
                </a:solidFill>
                <a:latin typeface="Calibri"/>
              </a:rPr>
              <a:t>Questions before the session? Contact Daniel Futerman, Vital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